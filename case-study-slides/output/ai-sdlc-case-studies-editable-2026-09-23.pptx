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76bb9e06542b9" /><Relationship Type="http://schemas.openxmlformats.org/officeDocument/2006/relationships/extended-properties" Target="/docProps/app.xml" Id="Rd4be566f86b34ca7" /><Relationship Type="http://schemas.openxmlformats.org/officeDocument/2006/relationships/officeDocument" Target="/ppt/presentation.xml" Id="Re7876cb1bf5a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7d8cf86e7434d"/>
  </p:sldMasterIdLst>
  <p:notesMasterIdLst>
    <p:notesMasterId xmlns:r="http://schemas.openxmlformats.org/officeDocument/2006/relationships" r:id="Rf61157edb7a64cba"/>
  </p:notesMasterIdLst>
  <p:sldIdLst>
    <p:sldId xmlns:r="http://schemas.openxmlformats.org/officeDocument/2006/relationships" id="256" r:id="R947b3a75df624553"/>
    <p:sldId xmlns:r="http://schemas.openxmlformats.org/officeDocument/2006/relationships" id="257" r:id="R184bc457997c4cbd"/>
    <p:sldId xmlns:r="http://schemas.openxmlformats.org/officeDocument/2006/relationships" id="258" r:id="R221172d3924f48f7"/>
    <p:sldId xmlns:r="http://schemas.openxmlformats.org/officeDocument/2006/relationships" id="259" r:id="R48aa54174412445e"/>
    <p:sldId xmlns:r="http://schemas.openxmlformats.org/officeDocument/2006/relationships" id="260" r:id="R4533ca789be04d8d"/>
    <p:sldId xmlns:r="http://schemas.openxmlformats.org/officeDocument/2006/relationships" id="261" r:id="R45818a831bae4465"/>
    <p:sldId xmlns:r="http://schemas.openxmlformats.org/officeDocument/2006/relationships" id="262" r:id="R46cc8432d67a4e0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29393519c84c28" /><Relationship Type="http://schemas.openxmlformats.org/officeDocument/2006/relationships/slideMaster" Target="/ppt/slideMasters/slideMaster1.xml" Id="R34e7d8cf86e7434d" /><Relationship Type="http://schemas.openxmlformats.org/officeDocument/2006/relationships/notesMaster" Target="/ppt/notesMasters/notesMaster1.xml" Id="Rf61157edb7a64cba" /><Relationship Type="http://schemas.openxmlformats.org/officeDocument/2006/relationships/presProps" Target="/ppt/presProps.xml" Id="Ra18c3cebc6f34955" /><Relationship Type="http://schemas.openxmlformats.org/officeDocument/2006/relationships/tableStyles" Target="/ppt/tableStyles.xml" Id="Re1e60fb9ef01483e" /><Relationship Type="http://schemas.openxmlformats.org/officeDocument/2006/relationships/slide" Target="/ppt/slides/slide1.xml" Id="R947b3a75df624553" /><Relationship Type="http://schemas.openxmlformats.org/officeDocument/2006/relationships/slide" Target="/ppt/slides/slide2.xml" Id="R184bc457997c4cbd" /><Relationship Type="http://schemas.openxmlformats.org/officeDocument/2006/relationships/slide" Target="/ppt/slides/slide3.xml" Id="R221172d3924f48f7" /><Relationship Type="http://schemas.openxmlformats.org/officeDocument/2006/relationships/slide" Target="/ppt/slides/slide4.xml" Id="R48aa54174412445e" /><Relationship Type="http://schemas.openxmlformats.org/officeDocument/2006/relationships/slide" Target="/ppt/slides/slide5.xml" Id="R4533ca789be04d8d" /><Relationship Type="http://schemas.openxmlformats.org/officeDocument/2006/relationships/slide" Target="/ppt/slides/slide6.xml" Id="R45818a831bae4465" /><Relationship Type="http://schemas.openxmlformats.org/officeDocument/2006/relationships/slide" Target="/ppt/slides/slide7.xml" Id="R46cc8432d67a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18d87be5e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exaware case studies">
      <a:dk1>
        <a:srgbClr val="07125E"/>
      </a:dk1>
      <a:lt1>
        <a:srgbClr val="FFFFFF"/>
      </a:lt1>
      <a:dk2>
        <a:srgbClr val="152258"/>
      </a:dk2>
      <a:lt2>
        <a:srgbClr val="F1F5FA"/>
      </a:lt2>
      <a:accent1>
        <a:srgbClr val="3C2CDA"/>
      </a:accent1>
      <a:accent2>
        <a:srgbClr val="14CBDE"/>
      </a:accent2>
      <a:accent3>
        <a:srgbClr val="1D86FF"/>
      </a:accent3>
      <a:accent4>
        <a:srgbClr val="EA9D00"/>
      </a:accent4>
      <a:accent5>
        <a:srgbClr val="078CA4"/>
      </a:accent5>
      <a:accent6>
        <a:srgbClr val="8088A7"/>
      </a:accent6>
      <a:hlink>
        <a:srgbClr val="3C2CDA"/>
      </a:hlink>
      <a:folHlink>
        <a:srgbClr val="07125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Hexaware case stud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7e363decb40a2" /><Relationship Type="http://schemas.openxmlformats.org/officeDocument/2006/relationships/notesMaster" Target="/ppt/notesMasters/notesMaster1.xml" Id="R86b2531c38dd48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3a59bc1c614de0" /><Relationship Type="http://schemas.openxmlformats.org/officeDocument/2006/relationships/notesMaster" Target="/ppt/notesMasters/notesMaster1.xml" Id="Rc9ebe4255e8a4b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d8afda3ab4b17" /><Relationship Type="http://schemas.openxmlformats.org/officeDocument/2006/relationships/notesMaster" Target="/ppt/notesMasters/notesMaster1.xml" Id="Re0530fc5c83f49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db8e42e064f7c" /><Relationship Type="http://schemas.openxmlformats.org/officeDocument/2006/relationships/notesMaster" Target="/ppt/notesMasters/notesMaster1.xml" Id="Rafe088301fb44a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ab0bd85784533" /><Relationship Type="http://schemas.openxmlformats.org/officeDocument/2006/relationships/notesMaster" Target="/ppt/notesMasters/notesMaster1.xml" Id="R984da9beb1314d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8692a0a7d24576" /><Relationship Type="http://schemas.openxmlformats.org/officeDocument/2006/relationships/notesMaster" Target="/ppt/notesMasters/notesMaster1.xml" Id="Rdb4cd01b8da54e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c855a25b5e4de1" /><Relationship Type="http://schemas.openxmlformats.org/officeDocument/2006/relationships/notesMaster" Target="/ppt/notesMasters/notesMaster1.xml" Id="R6052ada7bf5e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case-study-slides/svg/06-six-case-study-overview.svg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case-study-slides/svg/07-delta-engineering-harness.svg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case-study-slides/svg/08-umb-coordinated-transformation.svg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case-study-slides/svg/09-veridyan-end-to-end-ai-delivery.svg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case-study-slides/svg/10-enterprise-ai-adoption-at-scale.svg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case-study-slides/svg/11-consilio-distinct-ai-use-case.svg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case-study-slides/svg/12-insurance-policy-servicing.svg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9b9361b14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f1280611d48cc" /><Relationship Type="http://schemas.openxmlformats.org/officeDocument/2006/relationships/slideLayout" Target="/ppt/slideLayouts/slideLayout1.xml" Id="Rda41b2e4309f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1b2e4309f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exaware case studies">
      <a:dk1>
        <a:srgbClr val="07125E"/>
      </a:dk1>
      <a:lt1>
        <a:srgbClr val="FFFFFF"/>
      </a:lt1>
      <a:dk2>
        <a:srgbClr val="152258"/>
      </a:dk2>
      <a:lt2>
        <a:srgbClr val="F1F5FA"/>
      </a:lt2>
      <a:accent1>
        <a:srgbClr val="3C2CDA"/>
      </a:accent1>
      <a:accent2>
        <a:srgbClr val="14CBDE"/>
      </a:accent2>
      <a:accent3>
        <a:srgbClr val="1D86FF"/>
      </a:accent3>
      <a:accent4>
        <a:srgbClr val="EA9D00"/>
      </a:accent4>
      <a:accent5>
        <a:srgbClr val="078CA4"/>
      </a:accent5>
      <a:accent6>
        <a:srgbClr val="8088A7"/>
      </a:accent6>
      <a:hlink>
        <a:srgbClr val="3C2CDA"/>
      </a:hlink>
      <a:folHlink>
        <a:srgbClr val="07125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Hexaware case stud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f42860fc448e7" /><Relationship Type="http://schemas.openxmlformats.org/officeDocument/2006/relationships/notesSlide" Target="/ppt/notesSlides/notesSlide1.xml" Id="Rb9285b310e8f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1298525c44e51" /><Relationship Type="http://schemas.openxmlformats.org/officeDocument/2006/relationships/image" Target="/ppt/media/image.jpeg" Id="R4a69b2a0f1224dee" /><Relationship Type="http://schemas.openxmlformats.org/officeDocument/2006/relationships/notesSlide" Target="/ppt/notesSlides/notesSlide2.xml" Id="R0670adff0bc6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b8cc809f4f7a" /><Relationship Type="http://schemas.openxmlformats.org/officeDocument/2006/relationships/image" Target="/ppt/media/image2.jpeg" Id="Rf98fdd7ec1ce4ecf" /><Relationship Type="http://schemas.openxmlformats.org/officeDocument/2006/relationships/notesSlide" Target="/ppt/notesSlides/notesSlide3.xml" Id="Rde0add7bbe35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dee5f562e4441" /><Relationship Type="http://schemas.openxmlformats.org/officeDocument/2006/relationships/image" Target="/ppt/media/image3.jpeg" Id="R97873d06e410443f" /><Relationship Type="http://schemas.openxmlformats.org/officeDocument/2006/relationships/notesSlide" Target="/ppt/notesSlides/notesSlide4.xml" Id="R77343921f96f4f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07d8af7b54774" /><Relationship Type="http://schemas.openxmlformats.org/officeDocument/2006/relationships/image" Target="/ppt/media/image4.jpeg" Id="Rbc05b284ec3141be" /><Relationship Type="http://schemas.openxmlformats.org/officeDocument/2006/relationships/notesSlide" Target="/ppt/notesSlides/notesSlide5.xml" Id="R1803771f7e5d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af5c951874494" /><Relationship Type="http://schemas.openxmlformats.org/officeDocument/2006/relationships/image" Target="/ppt/media/image5.jpeg" Id="R3e346e08b6214c81" /><Relationship Type="http://schemas.openxmlformats.org/officeDocument/2006/relationships/notesSlide" Target="/ppt/notesSlides/notesSlide6.xml" Id="R9931d7b82aef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3e7d461c54a00" /><Relationship Type="http://schemas.openxmlformats.org/officeDocument/2006/relationships/image" Target="/ppt/media/image6.jpeg" Id="R09d65128f9434a30" /><Relationship Type="http://schemas.openxmlformats.org/officeDocument/2006/relationships/notesSlide" Target="/ppt/notesSlides/notesSlide7.xml" Id="Rbe6b37bc71a7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rectangle-1">
            <a:extLst xmlns:a="http://schemas.openxmlformats.org/drawingml/2006/main">
              <a:ext uri="{FF2B5EF4-FFF2-40B4-BE49-F238E27FC236}">
                <a16:creationId xmlns:a16="http://schemas.microsoft.com/office/drawing/2014/main" id="{4BE54214-7F5B-489A-9578-F1DBFD4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135D8491-65DB-47C7-88AF-192B7448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CD9901B-D560-4857-A7F5-CAE40277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466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CASE STUDIES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2A7EEA3-4C38-4781-8116-4D75A803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311"/>
            <a:ext cx="14478000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3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AI SDLC in action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E75927B-55D6-441B-BE40-0727C6E0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1961"/>
            <a:ext cx="1447800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Different constraints. Measurable outcomes.</a:t>
            </a:r>
          </a:p>
        </p:txBody>
      </p:sp>
      <p:sp>
        <p:nvSpPr>
          <p:cNvPr id="6" name="rectangle-3">
            <a:extLst xmlns:a="http://schemas.openxmlformats.org/drawingml/2006/main">
              <a:ext uri="{FF2B5EF4-FFF2-40B4-BE49-F238E27FC236}">
                <a16:creationId xmlns:a16="http://schemas.microsoft.com/office/drawing/2014/main" id="{1A179CDA-CC8B-48A0-A7FB-637A38EB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-4">
            <a:extLst xmlns:a="http://schemas.openxmlformats.org/drawingml/2006/main">
              <a:ext uri="{FF2B5EF4-FFF2-40B4-BE49-F238E27FC236}">
                <a16:creationId xmlns:a16="http://schemas.microsoft.com/office/drawing/2014/main" id="{2D5FCE8D-F57F-4475-BCAF-5B24176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D7C73BEA-8169-4450-B5B4-1A072DA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00072"/>
            <a:ext cx="142017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TRANSPORTATION &amp; LOGISTICS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70478FC0-DB74-4531-9C64-909AD71D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10587"/>
            <a:ext cx="142017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Complexity made change slow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00D0FFB0-CCC5-4D59-8A3A-08FB871F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3116"/>
            <a:ext cx="142017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Five airline domains, one governed flow</a:t>
            </a:r>
          </a:p>
        </p:txBody>
      </p:sp>
      <p:sp>
        <p:nvSpPr>
          <p:cNvPr id="11" name="line-5">
            <a:extLst xmlns:a="http://schemas.openxmlformats.org/drawingml/2006/main">
              <a:ext uri="{FF2B5EF4-FFF2-40B4-BE49-F238E27FC236}">
                <a16:creationId xmlns:a16="http://schemas.microsoft.com/office/drawing/2014/main" id="{28CEAFCA-15B5-4418-8BF0-73D46957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76625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981B2A41-D589-4EFD-94BF-47EE336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6546"/>
            <a:ext cx="142017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3.5 → 1.25 years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5E55091F-1FB2-437F-A0FE-37CB299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86225"/>
            <a:ext cx="1420177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PROGRAM DELIVERY</a:t>
            </a:r>
          </a:p>
        </p:txBody>
      </p:sp>
      <p:sp>
        <p:nvSpPr>
          <p:cNvPr id="14" name="rectangle-6">
            <a:extLst xmlns:a="http://schemas.openxmlformats.org/drawingml/2006/main">
              <a:ext uri="{FF2B5EF4-FFF2-40B4-BE49-F238E27FC236}">
                <a16:creationId xmlns:a16="http://schemas.microsoft.com/office/drawing/2014/main" id="{F32EBED7-671D-4C8A-939C-33049C9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-7">
            <a:extLst xmlns:a="http://schemas.openxmlformats.org/drawingml/2006/main">
              <a:ext uri="{FF2B5EF4-FFF2-40B4-BE49-F238E27FC236}">
                <a16:creationId xmlns:a16="http://schemas.microsoft.com/office/drawing/2014/main" id="{92934078-36D5-47F1-B718-EAEDDC4D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53CB"/>
          </a:solidFill>
          <a:ln xmlns:a="http://schemas.openxmlformats.org/drawingml/2006/main" w="0">
            <a:noFill/>
          </a:ln>
        </p:spPr>
      </p:sp>
      <p:sp>
        <p:nvSpPr>
          <p:cNvPr id="16" name="text-9">
            <a:extLst xmlns:a="http://schemas.openxmlformats.org/drawingml/2006/main">
              <a:ext uri="{FF2B5EF4-FFF2-40B4-BE49-F238E27FC236}">
                <a16:creationId xmlns:a16="http://schemas.microsoft.com/office/drawing/2014/main" id="{8DA162F4-6796-4BE4-A232-6A2FD07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00072"/>
            <a:ext cx="9439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BANKING</a:t>
            </a:r>
          </a:p>
        </p:txBody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D8C9A4DD-975F-4DA3-8C6C-9E9EF462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0587"/>
            <a:ext cx="94392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Assurance moved into the flow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38FB6AB2-78DD-42FF-9628-4D6C431E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33116"/>
            <a:ext cx="94392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PII, security and compliance built into delivery</a:t>
            </a:r>
          </a:p>
        </p:txBody>
      </p:sp>
      <p:sp>
        <p:nvSpPr>
          <p:cNvPr id="19" name="line-8">
            <a:extLst xmlns:a="http://schemas.openxmlformats.org/drawingml/2006/main">
              <a:ext uri="{FF2B5EF4-FFF2-40B4-BE49-F238E27FC236}">
                <a16:creationId xmlns:a16="http://schemas.microsoft.com/office/drawing/2014/main" id="{8030AEF7-830D-431F-9064-624AEF0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76625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1505A4F9-9BB5-476E-B398-21F90DB7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06546"/>
            <a:ext cx="94392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1.5×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2A40D48D-8C4B-4D7B-8D64-D56BA42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86225"/>
            <a:ext cx="943927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PRODUCTIVITY ACROSS THE SDLC</a:t>
            </a:r>
          </a:p>
        </p:txBody>
      </p:sp>
      <p:sp>
        <p:nvSpPr>
          <p:cNvPr id="22" name="rectangle-9">
            <a:extLst xmlns:a="http://schemas.openxmlformats.org/drawingml/2006/main">
              <a:ext uri="{FF2B5EF4-FFF2-40B4-BE49-F238E27FC236}">
                <a16:creationId xmlns:a16="http://schemas.microsoft.com/office/drawing/2014/main" id="{F1A2C678-FDDE-4854-AF22-9A08B36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57375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rectangle-10">
            <a:extLst xmlns:a="http://schemas.openxmlformats.org/drawingml/2006/main">
              <a:ext uri="{FF2B5EF4-FFF2-40B4-BE49-F238E27FC236}">
                <a16:creationId xmlns:a16="http://schemas.microsoft.com/office/drawing/2014/main" id="{DD4F21CF-819F-41E3-8CEF-D09FA5CD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57375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74ADF0D0-6C10-4DEC-949D-9086B344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100072"/>
            <a:ext cx="46767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HEALTHCARE &amp; LIFE SCIENCES</a:t>
            </a:r>
          </a:p>
        </p:txBody>
      </p:sp>
      <p:sp>
        <p:nvSpPr>
          <p:cNvPr id="25" name="text-15">
            <a:extLst xmlns:a="http://schemas.openxmlformats.org/drawingml/2006/main">
              <a:ext uri="{FF2B5EF4-FFF2-40B4-BE49-F238E27FC236}">
                <a16:creationId xmlns:a16="http://schemas.microsoft.com/office/drawing/2014/main" id="{007AE245-99AE-4646-A2C9-C9E1A8B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10587"/>
            <a:ext cx="46767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Small pods multiplied speed</a:t>
            </a:r>
          </a:p>
        </p:txBody>
      </p:sp>
      <p:sp>
        <p:nvSpPr>
          <p:cNvPr id="26" name="text-16">
            <a:extLst xmlns:a="http://schemas.openxmlformats.org/drawingml/2006/main">
              <a:ext uri="{FF2B5EF4-FFF2-40B4-BE49-F238E27FC236}">
                <a16:creationId xmlns:a16="http://schemas.microsoft.com/office/drawing/2014/main" id="{F67ECC6F-48FF-41EA-8D44-B42818E5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33116"/>
            <a:ext cx="46767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12 people became four AI-enabled mini-pods</a:t>
            </a:r>
          </a:p>
        </p:txBody>
      </p:sp>
      <p:sp>
        <p:nvSpPr>
          <p:cNvPr id="27" name="line-11">
            <a:extLst xmlns:a="http://schemas.openxmlformats.org/drawingml/2006/main">
              <a:ext uri="{FF2B5EF4-FFF2-40B4-BE49-F238E27FC236}">
                <a16:creationId xmlns:a16="http://schemas.microsoft.com/office/drawing/2014/main" id="{8A4AB3DF-4DE4-4ADD-B7A6-CA0A5549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476625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7820E438-BF15-431C-80C8-CF3B6BF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606546"/>
            <a:ext cx="46767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~5x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C5058500-A367-48A7-A08C-33C9D49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86225"/>
            <a:ext cx="467677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FASTER PORTAL DELIVERY</a:t>
            </a:r>
          </a:p>
        </p:txBody>
      </p:sp>
      <p:sp>
        <p:nvSpPr>
          <p:cNvPr id="30" name="rectangle-12">
            <a:extLst xmlns:a="http://schemas.openxmlformats.org/drawingml/2006/main">
              <a:ext uri="{FF2B5EF4-FFF2-40B4-BE49-F238E27FC236}">
                <a16:creationId xmlns:a16="http://schemas.microsoft.com/office/drawing/2014/main" id="{2D8E8EDA-D9CB-40F2-907F-2EF22E2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rectangle-13">
            <a:extLst xmlns:a="http://schemas.openxmlformats.org/drawingml/2006/main">
              <a:ext uri="{FF2B5EF4-FFF2-40B4-BE49-F238E27FC236}">
                <a16:creationId xmlns:a16="http://schemas.microsoft.com/office/drawing/2014/main" id="{17423767-56CC-40F7-97DE-ECC27C3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53CB"/>
          </a:solidFill>
          <a:ln xmlns:a="http://schemas.openxmlformats.org/drawingml/2006/main" w="0">
            <a:noFill/>
          </a:ln>
        </p:spPr>
      </p:sp>
      <p:sp>
        <p:nvSpPr>
          <p:cNvPr id="32" name="text-19">
            <a:extLst xmlns:a="http://schemas.openxmlformats.org/drawingml/2006/main">
              <a:ext uri="{FF2B5EF4-FFF2-40B4-BE49-F238E27FC236}">
                <a16:creationId xmlns:a16="http://schemas.microsoft.com/office/drawing/2014/main" id="{97A06C6D-BB6E-4598-9BDA-C883190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09947"/>
            <a:ext cx="142017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PROFESSIONAL SERVICES</a:t>
            </a:r>
          </a:p>
        </p:txBody>
      </p:sp>
      <p:sp>
        <p:nvSpPr>
          <p:cNvPr id="33" name="text-20">
            <a:extLst xmlns:a="http://schemas.openxmlformats.org/drawingml/2006/main">
              <a:ext uri="{FF2B5EF4-FFF2-40B4-BE49-F238E27FC236}">
                <a16:creationId xmlns:a16="http://schemas.microsoft.com/office/drawing/2014/main" id="{2774B086-C448-4804-99EC-68E6EC0B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20462"/>
            <a:ext cx="142017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AI adoption became a system</a:t>
            </a:r>
          </a:p>
        </p:txBody>
      </p:sp>
      <p:sp>
        <p:nvSpPr>
          <p:cNvPr id="34" name="text-21">
            <a:extLst xmlns:a="http://schemas.openxmlformats.org/drawingml/2006/main">
              <a:ext uri="{FF2B5EF4-FFF2-40B4-BE49-F238E27FC236}">
                <a16:creationId xmlns:a16="http://schemas.microsoft.com/office/drawing/2014/main" id="{C55012BC-370D-4DD4-97E4-681025F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42991"/>
            <a:ext cx="142017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Shared context, harness and portfolio controls</a:t>
            </a:r>
          </a:p>
        </p:txBody>
      </p:sp>
      <p:sp>
        <p:nvSpPr>
          <p:cNvPr id="35" name="line-14">
            <a:extLst xmlns:a="http://schemas.openxmlformats.org/drawingml/2006/main">
              <a:ext uri="{FF2B5EF4-FFF2-40B4-BE49-F238E27FC236}">
                <a16:creationId xmlns:a16="http://schemas.microsoft.com/office/drawing/2014/main" id="{49A9EB73-B586-4276-BCAF-DE03ED80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286500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6" name="text-22">
            <a:extLst xmlns:a="http://schemas.openxmlformats.org/drawingml/2006/main">
              <a:ext uri="{FF2B5EF4-FFF2-40B4-BE49-F238E27FC236}">
                <a16:creationId xmlns:a16="http://schemas.microsoft.com/office/drawing/2014/main" id="{A9E188B5-27BC-41AC-A609-3F7D677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16421"/>
            <a:ext cx="142017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~280 teams</a:t>
            </a:r>
          </a:p>
        </p:txBody>
      </p:sp>
      <p:sp>
        <p:nvSpPr>
          <p:cNvPr id="37" name="text-23">
            <a:extLst xmlns:a="http://schemas.openxmlformats.org/drawingml/2006/main">
              <a:ext uri="{FF2B5EF4-FFF2-40B4-BE49-F238E27FC236}">
                <a16:creationId xmlns:a16="http://schemas.microsoft.com/office/drawing/2014/main" id="{3D7E0DED-CF02-406C-AADA-2CEBB47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915531"/>
            <a:ext cx="1420177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572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5728B"/>
                </a:solidFill>
                <a:latin typeface="Manrope"/>
                <a:ea typeface="Manrope"/>
                <a:cs typeface="Manrope"/>
              </a:rPr>
              <a:t>3,000 users · 40 programs · 1B tokens/month</a:t>
            </a:r>
          </a:p>
        </p:txBody>
      </p:sp>
      <p:sp>
        <p:nvSpPr>
          <p:cNvPr id="38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6A20E35A-D37C-41B2-9417-E29E51B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rectangle-16">
            <a:extLst xmlns:a="http://schemas.openxmlformats.org/drawingml/2006/main">
              <a:ext uri="{FF2B5EF4-FFF2-40B4-BE49-F238E27FC236}">
                <a16:creationId xmlns:a16="http://schemas.microsoft.com/office/drawing/2014/main" id="{5A00D9C1-D5BB-4F1A-B4DC-84C468E8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40" name="text-24">
            <a:extLst xmlns:a="http://schemas.openxmlformats.org/drawingml/2006/main">
              <a:ext uri="{FF2B5EF4-FFF2-40B4-BE49-F238E27FC236}">
                <a16:creationId xmlns:a16="http://schemas.microsoft.com/office/drawing/2014/main" id="{6C4683CC-C8C2-40D9-B2C0-2EED2C1F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09947"/>
            <a:ext cx="9439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LEGAL TECHNOLOGY</a:t>
            </a:r>
          </a:p>
        </p:txBody>
      </p:sp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BE7EEB5E-F07E-4D46-A6E1-E3DFCEC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220462"/>
            <a:ext cx="94392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Specialist review became scalable</a:t>
            </a:r>
          </a:p>
        </p:txBody>
      </p:sp>
      <p:sp>
        <p:nvSpPr>
          <p:cNvPr id="42" name="text-26">
            <a:extLst xmlns:a="http://schemas.openxmlformats.org/drawingml/2006/main">
              <a:ext uri="{FF2B5EF4-FFF2-40B4-BE49-F238E27FC236}">
                <a16:creationId xmlns:a16="http://schemas.microsoft.com/office/drawing/2014/main" id="{C0BFFAFE-4D5D-43AF-8C94-0DC31FD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642991"/>
            <a:ext cx="94392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AI review with specialist exceptions</a:t>
            </a:r>
          </a:p>
        </p:txBody>
      </p:sp>
      <p:sp>
        <p:nvSpPr>
          <p:cNvPr id="43" name="line-17">
            <a:extLst xmlns:a="http://schemas.openxmlformats.org/drawingml/2006/main">
              <a:ext uri="{FF2B5EF4-FFF2-40B4-BE49-F238E27FC236}">
                <a16:creationId xmlns:a16="http://schemas.microsoft.com/office/drawing/2014/main" id="{F32465DA-EC76-4B85-BF6D-A7FA0206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286500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44" name="text-27">
            <a:extLst xmlns:a="http://schemas.openxmlformats.org/drawingml/2006/main">
              <a:ext uri="{FF2B5EF4-FFF2-40B4-BE49-F238E27FC236}">
                <a16:creationId xmlns:a16="http://schemas.microsoft.com/office/drawing/2014/main" id="{C00B524F-ADDB-460D-AC0B-A108D5D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416421"/>
            <a:ext cx="94392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40–60%</a:t>
            </a:r>
          </a:p>
        </p:txBody>
      </p:sp>
      <p:sp>
        <p:nvSpPr>
          <p:cNvPr id="45" name="text-28">
            <a:extLst xmlns:a="http://schemas.openxmlformats.org/drawingml/2006/main">
              <a:ext uri="{FF2B5EF4-FFF2-40B4-BE49-F238E27FC236}">
                <a16:creationId xmlns:a16="http://schemas.microsoft.com/office/drawing/2014/main" id="{9AE8DC15-BDB2-42BB-8D43-7498BA2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896100"/>
            <a:ext cx="943927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LOWER REVIEW COST</a:t>
            </a:r>
          </a:p>
        </p:txBody>
      </p:sp>
      <p:sp>
        <p:nvSpPr>
          <p:cNvPr id="46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DDA777EE-0E9D-4C79-B638-0938656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67250"/>
            <a:ext cx="4381500" cy="2619375"/>
          </a:xfrm>
          <a:prstGeom xmlns:a="http://schemas.openxmlformats.org/drawingml/2006/main" prst="roundRect">
            <a:avLst>
              <a:gd name="adj" fmla="val 6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325F643A-A60B-4E0B-8F93-49BC2A0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67250"/>
            <a:ext cx="438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48" name="text-29">
            <a:extLst xmlns:a="http://schemas.openxmlformats.org/drawingml/2006/main">
              <a:ext uri="{FF2B5EF4-FFF2-40B4-BE49-F238E27FC236}">
                <a16:creationId xmlns:a16="http://schemas.microsoft.com/office/drawing/2014/main" id="{70C36EDD-EB9F-4F7E-9432-47221E9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909947"/>
            <a:ext cx="46767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3C2CDA"/>
                </a:solidFill>
                <a:latin typeface="Manrope"/>
                <a:ea typeface="Manrope"/>
                <a:cs typeface="Manrope"/>
              </a:rPr>
              <a:t>INSURANCE</a:t>
            </a:r>
          </a:p>
        </p:txBody>
      </p:sp>
      <p:sp>
        <p:nvSpPr>
          <p:cNvPr id="49" name="text-30">
            <a:extLst xmlns:a="http://schemas.openxmlformats.org/drawingml/2006/main">
              <a:ext uri="{FF2B5EF4-FFF2-40B4-BE49-F238E27FC236}">
                <a16:creationId xmlns:a16="http://schemas.microsoft.com/office/drawing/2014/main" id="{6FF50F59-022A-4FF4-B5CC-07F50DCC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220462"/>
            <a:ext cx="46767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Policy knowledge improved service</a:t>
            </a:r>
          </a:p>
        </p:txBody>
      </p:sp>
      <p:sp>
        <p:nvSpPr>
          <p:cNvPr id="50" name="text-31">
            <a:extLst xmlns:a="http://schemas.openxmlformats.org/drawingml/2006/main">
              <a:ext uri="{FF2B5EF4-FFF2-40B4-BE49-F238E27FC236}">
                <a16:creationId xmlns:a16="http://schemas.microsoft.com/office/drawing/2014/main" id="{7C840187-D139-4149-B2DB-438D6DB6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642991"/>
            <a:ext cx="46767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8657D"/>
                </a:solidFill>
                <a:latin typeface="Manrope"/>
                <a:ea typeface="Manrope"/>
                <a:cs typeface="Manrope"/>
              </a:rPr>
              <a:t>Grounded answers and advisor automation</a:t>
            </a:r>
          </a:p>
        </p:txBody>
      </p:sp>
      <p:sp>
        <p:nvSpPr>
          <p:cNvPr id="51" name="line-20">
            <a:extLst xmlns:a="http://schemas.openxmlformats.org/drawingml/2006/main">
              <a:ext uri="{FF2B5EF4-FFF2-40B4-BE49-F238E27FC236}">
                <a16:creationId xmlns:a16="http://schemas.microsoft.com/office/drawing/2014/main" id="{A4555934-B1AF-49DD-B500-BB2ED97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286500"/>
            <a:ext cx="381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2" name="text-32">
            <a:extLst xmlns:a="http://schemas.openxmlformats.org/drawingml/2006/main">
              <a:ext uri="{FF2B5EF4-FFF2-40B4-BE49-F238E27FC236}">
                <a16:creationId xmlns:a16="http://schemas.microsoft.com/office/drawing/2014/main" id="{23EBD7B0-89A3-48B5-9C51-B78A8045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416421"/>
            <a:ext cx="46767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90%</a:t>
            </a:r>
          </a:p>
        </p:txBody>
      </p:sp>
      <p:sp>
        <p:nvSpPr>
          <p:cNvPr id="53" name="text-33">
            <a:extLst xmlns:a="http://schemas.openxmlformats.org/drawingml/2006/main">
              <a:ext uri="{FF2B5EF4-FFF2-40B4-BE49-F238E27FC236}">
                <a16:creationId xmlns:a16="http://schemas.microsoft.com/office/drawing/2014/main" id="{B05F4D32-9B86-49F9-A0B5-64B7952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896100"/>
            <a:ext cx="467677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BETTER POLICY-QUERY RESOLUTION</a:t>
            </a:r>
          </a:p>
        </p:txBody>
      </p:sp>
      <p:sp>
        <p:nvSpPr>
          <p:cNvPr id="54" name="rectangle-21">
            <a:extLst xmlns:a="http://schemas.openxmlformats.org/drawingml/2006/main">
              <a:ext uri="{FF2B5EF4-FFF2-40B4-BE49-F238E27FC236}">
                <a16:creationId xmlns:a16="http://schemas.microsoft.com/office/drawing/2014/main" id="{111E335B-F34D-4F8E-AEA3-6C97C63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00950"/>
            <a:ext cx="13906500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0">
            <a:noFill/>
          </a:ln>
        </p:spPr>
      </p:sp>
      <p:sp>
        <p:nvSpPr>
          <p:cNvPr id="55" name="rectangle-22">
            <a:extLst xmlns:a="http://schemas.openxmlformats.org/drawingml/2006/main">
              <a:ext uri="{FF2B5EF4-FFF2-40B4-BE49-F238E27FC236}">
                <a16:creationId xmlns:a16="http://schemas.microsoft.com/office/drawing/2014/main" id="{BAB77336-4293-43AF-A1F8-FFD18E5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0095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6" name="text-34">
            <a:extLst xmlns:a="http://schemas.openxmlformats.org/drawingml/2006/main">
              <a:ext uri="{FF2B5EF4-FFF2-40B4-BE49-F238E27FC236}">
                <a16:creationId xmlns:a16="http://schemas.microsoft.com/office/drawing/2014/main" id="{4C7493B4-BCA2-4110-97D9-0F962CC3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765542"/>
            <a:ext cx="1416367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Shared pattern: domain knowledge, AI-supported work, and built-in verification</a:t>
            </a:r>
          </a:p>
        </p:txBody>
      </p:sp>
      <p:sp>
        <p:nvSpPr>
          <p:cNvPr id="57" name="text-35">
            <a:extLst xmlns:a="http://schemas.openxmlformats.org/drawingml/2006/main">
              <a:ext uri="{FF2B5EF4-FFF2-40B4-BE49-F238E27FC236}">
                <a16:creationId xmlns:a16="http://schemas.microsoft.com/office/drawing/2014/main" id="{3D88E906-750A-4263-BF9B-8673B7E3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2017673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rectangle-1">
            <a:extLst xmlns:a="http://schemas.openxmlformats.org/drawingml/2006/main">
              <a:ext uri="{FF2B5EF4-FFF2-40B4-BE49-F238E27FC236}">
                <a16:creationId xmlns:a16="http://schemas.microsoft.com/office/drawing/2014/main" id="{D780B572-E335-408F-A259-A81C8B70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434E4E36-0053-4973-9246-9F62E92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F0BEB7D-F3A4-40E2-8F99-43897FA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7AD9D52-C46D-47A1-AAE7-CEF31C8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Transportation &amp; Logistics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B72DEF9-F082-4122-89B4-1159D5A2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AI-assisted transformation of airline crew operations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DAC20E5-2643-4CCD-A2A2-67B5405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Domain knowledge and governed engineering accelerated change across a deeply interconnected operating environment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2AFD136-F6A2-4446-AEB5-AA13C36D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83CF795-7F53-41ED-89EF-3B5D36A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AA3D248-EA21-4A02-AF6B-0712CB5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135C65D8-391A-4CB5-9932-69FF99A5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184BA2FE-575A-44B8-B1F3-C111D508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9b2a0f1224d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FD819EE6-752D-4FDB-9C93-F2C4E87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906FFB14-F951-4C94-B9A8-FD6F37B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736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Crew operations were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7E808E1D-4D6C-4E90-BD43-D77F9CB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50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deeply interconnected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25B4088C-83BD-4C48-957B-91BC834C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EE418B9F-C0B1-4594-877D-0F06E87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76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Rules spread across the estate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F696EECA-37ED-4C63-A207-586A592D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76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Scheduling, payroll, profile management</a:t>
            </a:r>
          </a:p>
        </p:txBody>
      </p:sp>
      <p:sp>
        <p:nvSpPr>
          <p:cNvPr id="19" name="text-12">
            <a:extLst xmlns:a="http://schemas.openxmlformats.org/drawingml/2006/main">
              <a:ext uri="{FF2B5EF4-FFF2-40B4-BE49-F238E27FC236}">
                <a16:creationId xmlns:a16="http://schemas.microsoft.com/office/drawing/2014/main" id="{61A6413C-4743-4CA9-898B-D98192E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91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Training and accommodation</a:t>
            </a:r>
          </a:p>
        </p:txBody>
      </p:sp>
      <p:sp>
        <p:nvSpPr>
          <p:cNvPr id="20" name="circle-7">
            <a:extLst xmlns:a="http://schemas.openxmlformats.org/drawingml/2006/main">
              <a:ext uri="{FF2B5EF4-FFF2-40B4-BE49-F238E27FC236}">
                <a16:creationId xmlns:a16="http://schemas.microsoft.com/office/drawing/2014/main" id="{BE3B5DF4-A3F7-413E-B340-FFD22702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906AB28F-3AE3-4637-9B25-9B4461A5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67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Dependencies were hard to trace</a:t>
            </a:r>
          </a:p>
        </p:txBody>
      </p:sp>
      <p:sp>
        <p:nvSpPr>
          <p:cNvPr id="22" name="text-14">
            <a:extLst xmlns:a="http://schemas.openxmlformats.org/drawingml/2006/main">
              <a:ext uri="{FF2B5EF4-FFF2-40B4-BE49-F238E27FC236}">
                <a16:creationId xmlns:a16="http://schemas.microsoft.com/office/drawing/2014/main" id="{A23ED923-D0E7-4DF3-BC0B-AF8ACE76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67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52,000+ interactions across the application estate</a:t>
            </a:r>
          </a:p>
        </p:txBody>
      </p:sp>
      <p:sp>
        <p:nvSpPr>
          <p:cNvPr id="23" name="circle-8">
            <a:extLst xmlns:a="http://schemas.openxmlformats.org/drawingml/2006/main">
              <a:ext uri="{FF2B5EF4-FFF2-40B4-BE49-F238E27FC236}">
                <a16:creationId xmlns:a16="http://schemas.microsoft.com/office/drawing/2014/main" id="{E07C35D5-804D-4300-A263-699BFAFF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E009DAE1-7744-457D-9CB9-4828A58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15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Every change carried operational risk</a:t>
            </a:r>
          </a:p>
        </p:txBody>
      </p:sp>
      <p:sp>
        <p:nvSpPr>
          <p:cNvPr id="25" name="text-16">
            <a:extLst xmlns:a="http://schemas.openxmlformats.org/drawingml/2006/main">
              <a:ext uri="{FF2B5EF4-FFF2-40B4-BE49-F238E27FC236}">
                <a16:creationId xmlns:a16="http://schemas.microsoft.com/office/drawing/2014/main" id="{0BDE85CA-2403-4EB9-B2C8-D807E542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16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Business rules and controls had to hold</a:t>
            </a:r>
          </a:p>
        </p:txBody>
      </p:sp>
      <p:sp>
        <p:nvSpPr>
          <p:cNvPr id="26" name="line-9">
            <a:extLst xmlns:a="http://schemas.openxmlformats.org/drawingml/2006/main">
              <a:ext uri="{FF2B5EF4-FFF2-40B4-BE49-F238E27FC236}">
                <a16:creationId xmlns:a16="http://schemas.microsoft.com/office/drawing/2014/main" id="{9E6E5946-A228-44A2-B112-CCC3C46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7" name="circle-10">
            <a:extLst xmlns:a="http://schemas.openxmlformats.org/drawingml/2006/main">
              <a:ext uri="{FF2B5EF4-FFF2-40B4-BE49-F238E27FC236}">
                <a16:creationId xmlns:a16="http://schemas.microsoft.com/office/drawing/2014/main" id="{0D7B05C7-594C-4F21-8116-5138919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D75B41DA-3727-4C2C-8DF1-AE1F3CE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E1076326-2782-428A-9D01-6450F60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Mapped the operating environment</a:t>
            </a:r>
          </a:p>
        </p:txBody>
      </p:sp>
      <p:sp>
        <p:nvSpPr>
          <p:cNvPr id="30" name="text-19">
            <a:extLst xmlns:a="http://schemas.openxmlformats.org/drawingml/2006/main">
              <a:ext uri="{FF2B5EF4-FFF2-40B4-BE49-F238E27FC236}">
                <a16:creationId xmlns:a16="http://schemas.microsoft.com/office/drawing/2014/main" id="{5D5EC46C-2136-42B9-92A6-D6C0862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Code, process flows, rules and dependencies</a:t>
            </a:r>
          </a:p>
        </p:txBody>
      </p:sp>
      <p:sp>
        <p:nvSpPr>
          <p:cNvPr id="31" name="circle-11">
            <a:extLst xmlns:a="http://schemas.openxmlformats.org/drawingml/2006/main">
              <a:ext uri="{FF2B5EF4-FFF2-40B4-BE49-F238E27FC236}">
                <a16:creationId xmlns:a16="http://schemas.microsoft.com/office/drawing/2014/main" id="{01C81C1A-CF71-464F-9C2F-534C722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81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E95A0C8C-B63A-4C48-BC16-42A4049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1578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0EF69921-8739-41B2-865A-BB29B04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46323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Connected five airline application domains</a:t>
            </a:r>
          </a:p>
        </p:txBody>
      </p:sp>
      <p:sp>
        <p:nvSpPr>
          <p:cNvPr id="34" name="text-22">
            <a:extLst xmlns:a="http://schemas.openxmlformats.org/drawingml/2006/main">
              <a:ext uri="{FF2B5EF4-FFF2-40B4-BE49-F238E27FC236}">
                <a16:creationId xmlns:a16="http://schemas.microsoft.com/office/drawing/2014/main" id="{785A81E8-A04A-49A6-AA1E-13B06B29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29025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Linked shared rules and dependencies across the broader code estate</a:t>
            </a:r>
          </a:p>
        </p:txBody>
      </p:sp>
      <p:sp>
        <p:nvSpPr>
          <p:cNvPr id="35" name="circle-12">
            <a:extLst xmlns:a="http://schemas.openxmlformats.org/drawingml/2006/main">
              <a:ext uri="{FF2B5EF4-FFF2-40B4-BE49-F238E27FC236}">
                <a16:creationId xmlns:a16="http://schemas.microsoft.com/office/drawing/2014/main" id="{8156561D-F7C3-4CCA-BDD0-57D9D49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753D2420-4D2B-48C1-8902-EF4C391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170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3BBA3EA3-864A-46F2-A282-FAEE1D46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644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Transformed in controlled increments</a:t>
            </a:r>
          </a:p>
        </p:txBody>
      </p:sp>
      <p:sp>
        <p:nvSpPr>
          <p:cNvPr id="38" name="text-25">
            <a:extLst xmlns:a="http://schemas.openxmlformats.org/drawingml/2006/main">
              <a:ext uri="{FF2B5EF4-FFF2-40B4-BE49-F238E27FC236}">
                <a16:creationId xmlns:a16="http://schemas.microsoft.com/office/drawing/2014/main" id="{B4A03DE1-FC3C-4C2D-945F-06AB9D4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AI-assisted analysis, design and engineering with continuous verification</a:t>
            </a:r>
          </a:p>
        </p:txBody>
      </p:sp>
      <p:sp>
        <p:nvSpPr>
          <p:cNvPr id="39" name="line-13">
            <a:extLst xmlns:a="http://schemas.openxmlformats.org/drawingml/2006/main">
              <a:ext uri="{FF2B5EF4-FFF2-40B4-BE49-F238E27FC236}">
                <a16:creationId xmlns:a16="http://schemas.microsoft.com/office/drawing/2014/main" id="{6011FC7D-F549-46ED-9D4F-FB03ECA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3397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EEA"/>
            </a:solidFill>
            <a:prstDash val="solid"/>
          </a:ln>
        </p:spPr>
      </p:sp>
      <p:sp>
        <p:nvSpPr>
          <p:cNvPr id="40" name="text-26">
            <a:extLst xmlns:a="http://schemas.openxmlformats.org/drawingml/2006/main">
              <a:ext uri="{FF2B5EF4-FFF2-40B4-BE49-F238E27FC236}">
                <a16:creationId xmlns:a16="http://schemas.microsoft.com/office/drawing/2014/main" id="{E95CFB8E-99B9-45CB-B9B5-99FD49D7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96281"/>
            <a:ext cx="10172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CONTROLS MAINTAINED THROUGHOUT DELIVERY</a:t>
            </a:r>
          </a:p>
        </p:txBody>
      </p:sp>
      <p:sp>
        <p:nvSpPr>
          <p:cNvPr id="41" name="text-27">
            <a:extLst xmlns:a="http://schemas.openxmlformats.org/drawingml/2006/main">
              <a:ext uri="{FF2B5EF4-FFF2-40B4-BE49-F238E27FC236}">
                <a16:creationId xmlns:a16="http://schemas.microsoft.com/office/drawing/2014/main" id="{6ABF508B-BB20-4F5B-90A2-62571ED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76697"/>
            <a:ext cx="101727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Cross-domain rules</a:t>
            </a:r>
          </a:p>
        </p:txBody>
      </p:sp>
      <p:sp>
        <p:nvSpPr>
          <p:cNvPr id="42" name="text-28">
            <a:extLst xmlns:a="http://schemas.openxmlformats.org/drawingml/2006/main">
              <a:ext uri="{FF2B5EF4-FFF2-40B4-BE49-F238E27FC236}">
                <a16:creationId xmlns:a16="http://schemas.microsoft.com/office/drawing/2014/main" id="{CDDC103B-D01E-4729-AC15-44A19A0B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6697"/>
            <a:ext cx="8572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Regulatory controls</a:t>
            </a:r>
          </a:p>
        </p:txBody>
      </p:sp>
      <p:sp>
        <p:nvSpPr>
          <p:cNvPr id="43" name="text-29">
            <a:extLst xmlns:a="http://schemas.openxmlformats.org/drawingml/2006/main">
              <a:ext uri="{FF2B5EF4-FFF2-40B4-BE49-F238E27FC236}">
                <a16:creationId xmlns:a16="http://schemas.microsoft.com/office/drawing/2014/main" id="{DF75522C-BDD6-4F19-B6BC-D3A68B22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76697"/>
            <a:ext cx="68961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Review evidence</a:t>
            </a:r>
          </a:p>
        </p:txBody>
      </p:sp>
      <p:sp>
        <p:nvSpPr>
          <p:cNvPr id="44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7A9C1518-1663-42D5-9109-2C1461F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143250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8BBD4866-919F-4319-94F7-A63D3A1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6" name="line-16">
            <a:extLst xmlns:a="http://schemas.openxmlformats.org/drawingml/2006/main">
              <a:ext uri="{FF2B5EF4-FFF2-40B4-BE49-F238E27FC236}">
                <a16:creationId xmlns:a16="http://schemas.microsoft.com/office/drawing/2014/main" id="{A817CDF6-17A8-4F04-908D-1CFD876F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908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7" name="line-17">
            <a:extLst xmlns:a="http://schemas.openxmlformats.org/drawingml/2006/main">
              <a:ext uri="{FF2B5EF4-FFF2-40B4-BE49-F238E27FC236}">
                <a16:creationId xmlns:a16="http://schemas.microsoft.com/office/drawing/2014/main" id="{E26ADD9A-C947-4E42-ACBE-B197E2A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576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8" name="text-30">
            <a:extLst xmlns:a="http://schemas.openxmlformats.org/drawingml/2006/main">
              <a:ext uri="{FF2B5EF4-FFF2-40B4-BE49-F238E27FC236}">
                <a16:creationId xmlns:a16="http://schemas.microsoft.com/office/drawing/2014/main" id="{9831EA84-2FA6-4691-92A6-66A7FC7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5747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PROGRAM DELIVERY</a:t>
            </a:r>
          </a:p>
        </p:txBody>
      </p:sp>
      <p:sp>
        <p:nvSpPr>
          <p:cNvPr id="49" name="text-31">
            <a:extLst xmlns:a="http://schemas.openxmlformats.org/drawingml/2006/main">
              <a:ext uri="{FF2B5EF4-FFF2-40B4-BE49-F238E27FC236}">
                <a16:creationId xmlns:a16="http://schemas.microsoft.com/office/drawing/2014/main" id="{28B9DE76-927C-4540-A1C9-78E7A27E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28747"/>
            <a:ext cx="44291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rPr>
              <a:t>3.5 years before</a:t>
            </a:r>
          </a:p>
        </p:txBody>
      </p:sp>
      <p:sp>
        <p:nvSpPr>
          <p:cNvPr id="50" name="text-32">
            <a:extLst xmlns:a="http://schemas.openxmlformats.org/drawingml/2006/main">
              <a:ext uri="{FF2B5EF4-FFF2-40B4-BE49-F238E27FC236}">
                <a16:creationId xmlns:a16="http://schemas.microsoft.com/office/drawing/2014/main" id="{C719A8C7-7F56-48DD-B4B8-2401F57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68777"/>
            <a:ext cx="4429125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1.25 years</a:t>
            </a:r>
          </a:p>
        </p:txBody>
      </p:sp>
      <p:sp>
        <p:nvSpPr>
          <p:cNvPr id="51" name="text-33">
            <a:extLst xmlns:a="http://schemas.openxmlformats.org/drawingml/2006/main">
              <a:ext uri="{FF2B5EF4-FFF2-40B4-BE49-F238E27FC236}">
                <a16:creationId xmlns:a16="http://schemas.microsoft.com/office/drawing/2014/main" id="{4B76B872-2623-4D0F-BFE1-9EC9E34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14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64% SHORTER</a:t>
            </a:r>
          </a:p>
        </p:txBody>
      </p:sp>
      <p:sp>
        <p:nvSpPr>
          <p:cNvPr id="52" name="text-34">
            <a:extLst xmlns:a="http://schemas.openxmlformats.org/drawingml/2006/main">
              <a:ext uri="{FF2B5EF4-FFF2-40B4-BE49-F238E27FC236}">
                <a16:creationId xmlns:a16="http://schemas.microsoft.com/office/drawing/2014/main" id="{F9D6667F-C2DF-4D3F-82BD-303111A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5747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ENGINEERING WORK</a:t>
            </a:r>
          </a:p>
        </p:txBody>
      </p:sp>
      <p:sp>
        <p:nvSpPr>
          <p:cNvPr id="53" name="text-35">
            <a:extLst xmlns:a="http://schemas.openxmlformats.org/drawingml/2006/main">
              <a:ext uri="{FF2B5EF4-FFF2-40B4-BE49-F238E27FC236}">
                <a16:creationId xmlns:a16="http://schemas.microsoft.com/office/drawing/2014/main" id="{6761BD5B-BFE9-4249-B0DE-B0C5025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28747"/>
            <a:ext cx="23812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rPr>
              <a:t>Across the lifecycle</a:t>
            </a:r>
          </a:p>
        </p:txBody>
      </p:sp>
      <p:sp>
        <p:nvSpPr>
          <p:cNvPr id="54" name="text-36">
            <a:extLst xmlns:a="http://schemas.openxmlformats.org/drawingml/2006/main">
              <a:ext uri="{FF2B5EF4-FFF2-40B4-BE49-F238E27FC236}">
                <a16:creationId xmlns:a16="http://schemas.microsoft.com/office/drawing/2014/main" id="{F35DF05E-2810-4ECA-90B3-30EC2D2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68777"/>
            <a:ext cx="238125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~50%</a:t>
            </a:r>
          </a:p>
        </p:txBody>
      </p:sp>
      <p:sp>
        <p:nvSpPr>
          <p:cNvPr id="55" name="text-37">
            <a:extLst xmlns:a="http://schemas.openxmlformats.org/drawingml/2006/main">
              <a:ext uri="{FF2B5EF4-FFF2-40B4-BE49-F238E27FC236}">
                <a16:creationId xmlns:a16="http://schemas.microsoft.com/office/drawing/2014/main" id="{0C9F92AF-0117-4603-9EDC-28513A3F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614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ACCELERATION</a:t>
            </a:r>
          </a:p>
        </p:txBody>
      </p:sp>
      <p:sp>
        <p:nvSpPr>
          <p:cNvPr id="56" name="text-38">
            <a:extLst xmlns:a="http://schemas.openxmlformats.org/drawingml/2006/main">
              <a:ext uri="{FF2B5EF4-FFF2-40B4-BE49-F238E27FC236}">
                <a16:creationId xmlns:a16="http://schemas.microsoft.com/office/drawing/2014/main" id="{952D9106-28A2-4648-A89C-A2560B47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7672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QUALITY AND CONTROL</a:t>
            </a:r>
          </a:p>
        </p:txBody>
      </p:sp>
      <p:sp>
        <p:nvSpPr>
          <p:cNvPr id="57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550FD09A-0469-43A1-8C6B-3F3B9F2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91050"/>
            <a:ext cx="1666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9525">
            <a:solidFill>
              <a:srgbClr val="C6CBEF"/>
            </a:solidFill>
            <a:prstDash val="solid"/>
          </a:ln>
        </p:spPr>
      </p:sp>
      <p:sp>
        <p:nvSpPr>
          <p:cNvPr id="58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8069CA94-9388-4E19-AA12-E44DE20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91050"/>
            <a:ext cx="1762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59" name="text-39">
            <a:extLst xmlns:a="http://schemas.openxmlformats.org/drawingml/2006/main">
              <a:ext uri="{FF2B5EF4-FFF2-40B4-BE49-F238E27FC236}">
                <a16:creationId xmlns:a16="http://schemas.microsoft.com/office/drawing/2014/main" id="{A61ED56E-8E5E-45CF-8B30-B4D2CED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19828"/>
            <a:ext cx="42672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GROUNDED TRUTH</a:t>
            </a:r>
          </a:p>
        </p:txBody>
      </p:sp>
      <p:sp>
        <p:nvSpPr>
          <p:cNvPr id="60" name="text-40">
            <a:extLst xmlns:a="http://schemas.openxmlformats.org/drawingml/2006/main">
              <a:ext uri="{FF2B5EF4-FFF2-40B4-BE49-F238E27FC236}">
                <a16:creationId xmlns:a16="http://schemas.microsoft.com/office/drawing/2014/main" id="{C454B8B9-DFFD-4665-B0D9-5102AC51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943856"/>
            <a:ext cx="42672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Rules linked to source</a:t>
            </a:r>
          </a:p>
        </p:txBody>
      </p:sp>
      <p:sp>
        <p:nvSpPr>
          <p:cNvPr id="61" name="text-41">
            <a:extLst xmlns:a="http://schemas.openxmlformats.org/drawingml/2006/main">
              <a:ext uri="{FF2B5EF4-FFF2-40B4-BE49-F238E27FC236}">
                <a16:creationId xmlns:a16="http://schemas.microsoft.com/office/drawing/2014/main" id="{4E123DC9-1392-458A-A1AB-4C1F6D11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719828"/>
            <a:ext cx="24098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TRACEABILITY</a:t>
            </a:r>
          </a:p>
        </p:txBody>
      </p:sp>
      <p:sp>
        <p:nvSpPr>
          <p:cNvPr id="62" name="text-42">
            <a:extLst xmlns:a="http://schemas.openxmlformats.org/drawingml/2006/main">
              <a:ext uri="{FF2B5EF4-FFF2-40B4-BE49-F238E27FC236}">
                <a16:creationId xmlns:a16="http://schemas.microsoft.com/office/drawing/2014/main" id="{B8C38849-B0EC-4F69-AB44-54A23119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943856"/>
            <a:ext cx="24098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Evidence linked to change</a:t>
            </a:r>
          </a:p>
        </p:txBody>
      </p:sp>
      <p:sp>
        <p:nvSpPr>
          <p:cNvPr id="63" name="text-43">
            <a:extLst xmlns:a="http://schemas.openxmlformats.org/drawingml/2006/main">
              <a:ext uri="{FF2B5EF4-FFF2-40B4-BE49-F238E27FC236}">
                <a16:creationId xmlns:a16="http://schemas.microsoft.com/office/drawing/2014/main" id="{204BD116-DAE3-4B54-8484-75962B10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TRANSFORMATION SCOPE AND COMPLEXITY</a:t>
            </a:r>
          </a:p>
        </p:txBody>
      </p:sp>
      <p:sp>
        <p:nvSpPr>
          <p:cNvPr id="64" name="rectangle-20">
            <a:extLst xmlns:a="http://schemas.openxmlformats.org/drawingml/2006/main">
              <a:ext uri="{FF2B5EF4-FFF2-40B4-BE49-F238E27FC236}">
                <a16:creationId xmlns:a16="http://schemas.microsoft.com/office/drawing/2014/main" id="{6478F51E-1446-4A3E-9055-A77A9660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rectangle-21">
            <a:extLst xmlns:a="http://schemas.openxmlformats.org/drawingml/2006/main">
              <a:ext uri="{FF2B5EF4-FFF2-40B4-BE49-F238E27FC236}">
                <a16:creationId xmlns:a16="http://schemas.microsoft.com/office/drawing/2014/main" id="{D0FFAB5D-3239-44CC-BB83-DE83C16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6" name="line-22">
            <a:extLst xmlns:a="http://schemas.openxmlformats.org/drawingml/2006/main">
              <a:ext uri="{FF2B5EF4-FFF2-40B4-BE49-F238E27FC236}">
                <a16:creationId xmlns:a16="http://schemas.microsoft.com/office/drawing/2014/main" id="{FC0B23B0-5093-4349-897D-5F934A21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7" name="line-23">
            <a:extLst xmlns:a="http://schemas.openxmlformats.org/drawingml/2006/main">
              <a:ext uri="{FF2B5EF4-FFF2-40B4-BE49-F238E27FC236}">
                <a16:creationId xmlns:a16="http://schemas.microsoft.com/office/drawing/2014/main" id="{884E86ED-8604-4D79-B21A-EEB472B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8" name="line-24">
            <a:extLst xmlns:a="http://schemas.openxmlformats.org/drawingml/2006/main">
              <a:ext uri="{FF2B5EF4-FFF2-40B4-BE49-F238E27FC236}">
                <a16:creationId xmlns:a16="http://schemas.microsoft.com/office/drawing/2014/main" id="{DABE4577-1EE5-4A9A-AFF1-EA661239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9" name="text-44">
            <a:extLst xmlns:a="http://schemas.openxmlformats.org/drawingml/2006/main">
              <a:ext uri="{FF2B5EF4-FFF2-40B4-BE49-F238E27FC236}">
                <a16:creationId xmlns:a16="http://schemas.microsoft.com/office/drawing/2014/main" id="{3CF40576-61C6-4D5D-91B6-118D07C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33463"/>
            <a:ext cx="14001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6.2M</a:t>
            </a:r>
          </a:p>
        </p:txBody>
      </p:sp>
      <p:sp>
        <p:nvSpPr>
          <p:cNvPr id="70" name="text-45">
            <a:extLst xmlns:a="http://schemas.openxmlformats.org/drawingml/2006/main">
              <a:ext uri="{FF2B5EF4-FFF2-40B4-BE49-F238E27FC236}">
                <a16:creationId xmlns:a16="http://schemas.microsoft.com/office/drawing/2014/main" id="{90C58132-F4DE-4768-B948-DE40475C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96556"/>
            <a:ext cx="1400175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LINES OF CODE ACROSS THE ESTATE</a:t>
            </a:r>
          </a:p>
        </p:txBody>
      </p:sp>
      <p:sp>
        <p:nvSpPr>
          <p:cNvPr id="71" name="text-46">
            <a:extLst xmlns:a="http://schemas.openxmlformats.org/drawingml/2006/main">
              <a:ext uri="{FF2B5EF4-FFF2-40B4-BE49-F238E27FC236}">
                <a16:creationId xmlns:a16="http://schemas.microsoft.com/office/drawing/2014/main" id="{7D7ACF42-028B-4BFC-BA0C-A9B9225F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133463"/>
            <a:ext cx="1052512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52,017</a:t>
            </a:r>
          </a:p>
        </p:txBody>
      </p:sp>
      <p:sp>
        <p:nvSpPr>
          <p:cNvPr id="72" name="text-47">
            <a:extLst xmlns:a="http://schemas.openxmlformats.org/drawingml/2006/main">
              <a:ext uri="{FF2B5EF4-FFF2-40B4-BE49-F238E27FC236}">
                <a16:creationId xmlns:a16="http://schemas.microsoft.com/office/drawing/2014/main" id="{D70B1FD6-2F99-4BD0-B58F-825F3D4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96556"/>
            <a:ext cx="105251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DATA INTERACTIONS MAPPED</a:t>
            </a:r>
          </a:p>
        </p:txBody>
      </p:sp>
      <p:sp>
        <p:nvSpPr>
          <p:cNvPr id="73" name="text-48">
            <a:extLst xmlns:a="http://schemas.openxmlformats.org/drawingml/2006/main">
              <a:ext uri="{FF2B5EF4-FFF2-40B4-BE49-F238E27FC236}">
                <a16:creationId xmlns:a16="http://schemas.microsoft.com/office/drawing/2014/main" id="{ECA8F4AB-4989-41D0-8DF6-ED2D5B0B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133463"/>
            <a:ext cx="70485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2,500+</a:t>
            </a:r>
          </a:p>
        </p:txBody>
      </p:sp>
      <p:sp>
        <p:nvSpPr>
          <p:cNvPr id="74" name="text-49">
            <a:extLst xmlns:a="http://schemas.openxmlformats.org/drawingml/2006/main">
              <a:ext uri="{FF2B5EF4-FFF2-40B4-BE49-F238E27FC236}">
                <a16:creationId xmlns:a16="http://schemas.microsoft.com/office/drawing/2014/main" id="{D40267E5-E352-49F8-AEF7-F5C1F13A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96556"/>
            <a:ext cx="70485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EPICS IN SCOPE</a:t>
            </a:r>
          </a:p>
        </p:txBody>
      </p:sp>
      <p:sp>
        <p:nvSpPr>
          <p:cNvPr id="75" name="text-50">
            <a:extLst xmlns:a="http://schemas.openxmlformats.org/drawingml/2006/main">
              <a:ext uri="{FF2B5EF4-FFF2-40B4-BE49-F238E27FC236}">
                <a16:creationId xmlns:a16="http://schemas.microsoft.com/office/drawing/2014/main" id="{AC876FF8-3D06-4D79-82F8-36B70104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133463"/>
            <a:ext cx="3571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76" name="text-51">
            <a:extLst xmlns:a="http://schemas.openxmlformats.org/drawingml/2006/main">
              <a:ext uri="{FF2B5EF4-FFF2-40B4-BE49-F238E27FC236}">
                <a16:creationId xmlns:a16="http://schemas.microsoft.com/office/drawing/2014/main" id="{C744808B-CCCD-4AF4-9D48-0ECC464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496556"/>
            <a:ext cx="357187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AIRLINE APPLICATION DOMAINS CONNECTED</a:t>
            </a:r>
          </a:p>
        </p:txBody>
      </p:sp>
      <p:sp>
        <p:nvSpPr>
          <p:cNvPr id="77" name="text-52">
            <a:extLst xmlns:a="http://schemas.openxmlformats.org/drawingml/2006/main">
              <a:ext uri="{FF2B5EF4-FFF2-40B4-BE49-F238E27FC236}">
                <a16:creationId xmlns:a16="http://schemas.microsoft.com/office/drawing/2014/main" id="{3766DFCE-4F54-446F-9630-EE6DED4B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The delivery model accelerated change while preserving the rules that keep crew operations running</a:t>
            </a:r>
          </a:p>
        </p:txBody>
      </p:sp>
      <p:sp>
        <p:nvSpPr>
          <p:cNvPr id="78" name="text-53">
            <a:extLst xmlns:a="http://schemas.openxmlformats.org/drawingml/2006/main">
              <a:ext uri="{FF2B5EF4-FFF2-40B4-BE49-F238E27FC236}">
                <a16:creationId xmlns:a16="http://schemas.microsoft.com/office/drawing/2014/main" id="{EB0F4366-C1A3-43FA-9557-B5486EBC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61302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angle-1">
            <a:extLst xmlns:a="http://schemas.openxmlformats.org/drawingml/2006/main">
              <a:ext uri="{FF2B5EF4-FFF2-40B4-BE49-F238E27FC236}">
                <a16:creationId xmlns:a16="http://schemas.microsoft.com/office/drawing/2014/main" id="{9803DFA2-644B-41CC-92ED-A75365BF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4AB9ECC4-8EAC-42A7-A215-A92D67B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B366370-7DB6-4AC2-A2F9-625A090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FD8D54A-D36F-4203-8AF6-237FAD1C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Banking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F5FCC4D-A8CE-4B56-BD5C-B0E9FC7B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AI support across a regulated software delivery lifecycle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3F076FC-9FC3-4E45-82A0-09134F93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Six agent families automated delivery, security, compliance and evidence across the SDLC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66B106-FFAE-411E-AC25-A0EF5177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118BB7-8DA6-4FFD-875A-81CBDEA6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59919F0-1765-4A5C-AE35-B574DE0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8423629F-24CF-4394-9F12-8BADA450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3AC24337-BF06-47E9-A98B-022FE21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fdd7ec1ce4e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EDAECF7E-C3E8-4964-BB60-255A6C6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D85674BB-7339-45D4-9BA3-0B300D0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736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Assurance slowed delivery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E30DCE7F-39D9-4454-84BE-3253A8B8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50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across the regulated lifecycle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1FF5E88E-9B6E-45AE-A1C9-7281338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C5A0D006-F3DD-4960-8D06-4CF9C699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76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Banking controls entered delivery late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CECA29B6-958E-4F16-9D84-EFBF264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76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PII, security and regulatory needs were reinterpreted</a:t>
            </a:r>
          </a:p>
        </p:txBody>
      </p:sp>
      <p:sp>
        <p:nvSpPr>
          <p:cNvPr id="19" name="circle-7">
            <a:extLst xmlns:a="http://schemas.openxmlformats.org/drawingml/2006/main">
              <a:ext uri="{FF2B5EF4-FFF2-40B4-BE49-F238E27FC236}">
                <a16:creationId xmlns:a16="http://schemas.microsoft.com/office/drawing/2014/main" id="{73898554-B2A3-4079-AA07-09836F6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1727CCCA-D7AC-4320-A4B8-A55A2BD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15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Assurance disciplines worked separately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E5FC64F5-5983-4276-8C13-BC28D0BE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5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Functional, security and compliance testing fragmented</a:t>
            </a:r>
          </a:p>
        </p:txBody>
      </p:sp>
      <p:sp>
        <p:nvSpPr>
          <p:cNvPr id="22" name="circle-8">
            <a:extLst xmlns:a="http://schemas.openxmlformats.org/drawingml/2006/main">
              <a:ext uri="{FF2B5EF4-FFF2-40B4-BE49-F238E27FC236}">
                <a16:creationId xmlns:a16="http://schemas.microsoft.com/office/drawing/2014/main" id="{AEFE3506-59F5-443A-A0EB-705C240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977B161A-D52E-4E3D-B3E0-0E392449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53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Evidence was assembled after the work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7B4B8C1E-DC86-4196-BA29-A5D56AF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54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Audit preparation added delay and rework</a:t>
            </a:r>
          </a:p>
        </p:txBody>
      </p:sp>
      <p:sp>
        <p:nvSpPr>
          <p:cNvPr id="25" name="line-9">
            <a:extLst xmlns:a="http://schemas.openxmlformats.org/drawingml/2006/main">
              <a:ext uri="{FF2B5EF4-FFF2-40B4-BE49-F238E27FC236}">
                <a16:creationId xmlns:a16="http://schemas.microsoft.com/office/drawing/2014/main" id="{C19DA83D-2CBA-4A04-97CB-8247D01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6" name="circle-10">
            <a:extLst xmlns:a="http://schemas.openxmlformats.org/drawingml/2006/main">
              <a:ext uri="{FF2B5EF4-FFF2-40B4-BE49-F238E27FC236}">
                <a16:creationId xmlns:a16="http://schemas.microsoft.com/office/drawing/2014/main" id="{833DBFB2-2A1B-475A-B97F-4683D770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7" name="text-16">
            <a:extLst xmlns:a="http://schemas.openxmlformats.org/drawingml/2006/main">
              <a:ext uri="{FF2B5EF4-FFF2-40B4-BE49-F238E27FC236}">
                <a16:creationId xmlns:a16="http://schemas.microsoft.com/office/drawing/2014/main" id="{8AF704D9-2099-4968-8AE5-5028999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250DCD29-68C0-45E4-8FBE-D71F2FF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Translated banking rules into delivery controls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39EC1AC7-8871-4E0D-9A7A-5C0D400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Requirements carried regulatory, PII and security obligations forward</a:t>
            </a:r>
          </a:p>
        </p:txBody>
      </p:sp>
      <p:sp>
        <p:nvSpPr>
          <p:cNvPr id="30" name="circle-11">
            <a:extLst xmlns:a="http://schemas.openxmlformats.org/drawingml/2006/main">
              <a:ext uri="{FF2B5EF4-FFF2-40B4-BE49-F238E27FC236}">
                <a16:creationId xmlns:a16="http://schemas.microsoft.com/office/drawing/2014/main" id="{7E92D569-85E2-4D7E-9C6F-35A2A7C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F1F42425-CCF0-45CB-A198-CE3EAC1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44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B0D1C3FF-8C5A-4E1C-8A75-6564E7D0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91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Deployed six families of persona-based agents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F7EFBDC0-3866-46CA-B89B-B9C7D438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Specialized teams covered delivery, security, compliance and quality</a:t>
            </a:r>
          </a:p>
        </p:txBody>
      </p:sp>
      <p:sp>
        <p:nvSpPr>
          <p:cNvPr id="34" name="circle-12">
            <a:extLst xmlns:a="http://schemas.openxmlformats.org/drawingml/2006/main">
              <a:ext uri="{FF2B5EF4-FFF2-40B4-BE49-F238E27FC236}">
                <a16:creationId xmlns:a16="http://schemas.microsoft.com/office/drawing/2014/main" id="{75F9DEF1-B91E-44A7-9A63-B9E15B9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35" name="text-22">
            <a:extLst xmlns:a="http://schemas.openxmlformats.org/drawingml/2006/main">
              <a:ext uri="{FF2B5EF4-FFF2-40B4-BE49-F238E27FC236}">
                <a16:creationId xmlns:a16="http://schemas.microsoft.com/office/drawing/2014/main" id="{CF9D8C51-AE2E-401A-988F-C3F0E06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50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2AFC11BB-964B-47A1-8865-F6AE0B1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97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Automated assurance and audit evidence</a:t>
            </a:r>
          </a:p>
        </p:txBody>
      </p:sp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63974397-02EB-4D2F-9C6F-61BE86E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Functional, security and compliance checks ran throughout delivery</a:t>
            </a:r>
          </a:p>
        </p:txBody>
      </p:sp>
      <p:sp>
        <p:nvSpPr>
          <p:cNvPr id="38" name="line-13">
            <a:extLst xmlns:a="http://schemas.openxmlformats.org/drawingml/2006/main">
              <a:ext uri="{FF2B5EF4-FFF2-40B4-BE49-F238E27FC236}">
                <a16:creationId xmlns:a16="http://schemas.microsoft.com/office/drawing/2014/main" id="{6FFF0A43-E6D2-4DEF-A267-6A62B1E3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67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EEA"/>
            </a:solidFill>
            <a:prstDash val="solid"/>
          </a:ln>
        </p:spPr>
      </p:sp>
      <p:sp>
        <p:nvSpPr>
          <p:cNvPr id="39" name="text-25">
            <a:extLst xmlns:a="http://schemas.openxmlformats.org/drawingml/2006/main">
              <a:ext uri="{FF2B5EF4-FFF2-40B4-BE49-F238E27FC236}">
                <a16:creationId xmlns:a16="http://schemas.microsoft.com/office/drawing/2014/main" id="{9C14ADC4-3E7F-4FC8-B4A1-2B50FA2F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20106"/>
            <a:ext cx="10172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CONTROLS MAINTAINED THROUGHOUT DELIVERY</a:t>
            </a:r>
          </a:p>
        </p:txBody>
      </p:sp>
      <p:sp>
        <p:nvSpPr>
          <p:cNvPr id="40" name="text-26">
            <a:extLst xmlns:a="http://schemas.openxmlformats.org/drawingml/2006/main">
              <a:ext uri="{FF2B5EF4-FFF2-40B4-BE49-F238E27FC236}">
                <a16:creationId xmlns:a16="http://schemas.microsoft.com/office/drawing/2014/main" id="{0CB41B3E-0BEC-461A-8727-5F304446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00522"/>
            <a:ext cx="101727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Human approval</a:t>
            </a:r>
          </a:p>
        </p:txBody>
      </p:sp>
      <p:sp>
        <p:nvSpPr>
          <p:cNvPr id="41" name="text-27">
            <a:extLst xmlns:a="http://schemas.openxmlformats.org/drawingml/2006/main">
              <a:ext uri="{FF2B5EF4-FFF2-40B4-BE49-F238E27FC236}">
                <a16:creationId xmlns:a16="http://schemas.microsoft.com/office/drawing/2014/main" id="{AC55225D-7373-4E1D-A185-1EA74EA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00522"/>
            <a:ext cx="8572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Least privilege</a:t>
            </a:r>
          </a:p>
        </p:txBody>
      </p:sp>
      <p:sp>
        <p:nvSpPr>
          <p:cNvPr id="42" name="text-28">
            <a:extLst xmlns:a="http://schemas.openxmlformats.org/drawingml/2006/main">
              <a:ext uri="{FF2B5EF4-FFF2-40B4-BE49-F238E27FC236}">
                <a16:creationId xmlns:a16="http://schemas.microsoft.com/office/drawing/2014/main" id="{FCBF79B6-B534-4242-B0B2-4B7F3C6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0522"/>
            <a:ext cx="70770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Audit traceability</a:t>
            </a:r>
          </a:p>
        </p:txBody>
      </p:sp>
      <p:sp>
        <p:nvSpPr>
          <p:cNvPr id="43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C3347151-0E12-4463-B079-86219CC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143250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6CBD9F6F-CF51-4291-B9AF-2A52227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5" name="line-16">
            <a:extLst xmlns:a="http://schemas.openxmlformats.org/drawingml/2006/main">
              <a:ext uri="{FF2B5EF4-FFF2-40B4-BE49-F238E27FC236}">
                <a16:creationId xmlns:a16="http://schemas.microsoft.com/office/drawing/2014/main" id="{62E2F897-DBCE-445A-B6DC-845C2F0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908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6" name="line-17">
            <a:extLst xmlns:a="http://schemas.openxmlformats.org/drawingml/2006/main">
              <a:ext uri="{FF2B5EF4-FFF2-40B4-BE49-F238E27FC236}">
                <a16:creationId xmlns:a16="http://schemas.microsoft.com/office/drawing/2014/main" id="{F1F2A973-BDF1-4CB2-97B8-772D185E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576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7" name="text-29">
            <a:extLst xmlns:a="http://schemas.openxmlformats.org/drawingml/2006/main">
              <a:ext uri="{FF2B5EF4-FFF2-40B4-BE49-F238E27FC236}">
                <a16:creationId xmlns:a16="http://schemas.microsoft.com/office/drawing/2014/main" id="{91363409-BC68-4AAC-8767-10E0323B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5747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PRODUCTIVITY</a:t>
            </a:r>
          </a:p>
        </p:txBody>
      </p:sp>
      <p:sp>
        <p:nvSpPr>
          <p:cNvPr id="48" name="text-30">
            <a:extLst xmlns:a="http://schemas.openxmlformats.org/drawingml/2006/main">
              <a:ext uri="{FF2B5EF4-FFF2-40B4-BE49-F238E27FC236}">
                <a16:creationId xmlns:a16="http://schemas.microsoft.com/office/drawing/2014/main" id="{B3895BED-13E7-45BF-B322-F0C7026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39059"/>
            <a:ext cx="44291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1.5x</a:t>
            </a:r>
          </a:p>
        </p:txBody>
      </p:sp>
      <p:sp>
        <p:nvSpPr>
          <p:cNvPr id="49" name="text-31">
            <a:extLst xmlns:a="http://schemas.openxmlformats.org/drawingml/2006/main">
              <a:ext uri="{FF2B5EF4-FFF2-40B4-BE49-F238E27FC236}">
                <a16:creationId xmlns:a16="http://schemas.microsoft.com/office/drawing/2014/main" id="{844EDD60-6EAF-41A9-848F-A1E7237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14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ACROSS THE SDLC</a:t>
            </a:r>
          </a:p>
        </p:txBody>
      </p:sp>
      <p:sp>
        <p:nvSpPr>
          <p:cNvPr id="50" name="text-32">
            <a:extLst xmlns:a="http://schemas.openxmlformats.org/drawingml/2006/main">
              <a:ext uri="{FF2B5EF4-FFF2-40B4-BE49-F238E27FC236}">
                <a16:creationId xmlns:a16="http://schemas.microsoft.com/office/drawing/2014/main" id="{32FECAC5-0434-4437-8922-7BDE51B5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5747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DELIVERY CAPACITY</a:t>
            </a:r>
          </a:p>
        </p:txBody>
      </p:sp>
      <p:sp>
        <p:nvSpPr>
          <p:cNvPr id="51" name="text-33">
            <a:extLst xmlns:a="http://schemas.openxmlformats.org/drawingml/2006/main">
              <a:ext uri="{FF2B5EF4-FFF2-40B4-BE49-F238E27FC236}">
                <a16:creationId xmlns:a16="http://schemas.microsoft.com/office/drawing/2014/main" id="{FA001347-D3B3-4800-9571-52D343BC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39059"/>
            <a:ext cx="23812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5,000</a:t>
            </a:r>
          </a:p>
        </p:txBody>
      </p:sp>
      <p:sp>
        <p:nvSpPr>
          <p:cNvPr id="52" name="text-34">
            <a:extLst xmlns:a="http://schemas.openxmlformats.org/drawingml/2006/main">
              <a:ext uri="{FF2B5EF4-FFF2-40B4-BE49-F238E27FC236}">
                <a16:creationId xmlns:a16="http://schemas.microsoft.com/office/drawing/2014/main" id="{AEF01170-2C69-4512-9A0E-95517373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614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HOURS SAVED</a:t>
            </a:r>
          </a:p>
        </p:txBody>
      </p:sp>
      <p:sp>
        <p:nvSpPr>
          <p:cNvPr id="53" name="text-35">
            <a:extLst xmlns:a="http://schemas.openxmlformats.org/drawingml/2006/main">
              <a:ext uri="{FF2B5EF4-FFF2-40B4-BE49-F238E27FC236}">
                <a16:creationId xmlns:a16="http://schemas.microsoft.com/office/drawing/2014/main" id="{80796B31-1A49-4EFD-BF30-7D8F1D9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7672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QUALITY AND CONTROL</a:t>
            </a:r>
          </a:p>
        </p:txBody>
      </p:sp>
      <p:sp>
        <p:nvSpPr>
          <p:cNvPr id="54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26FC482D-9F40-488C-9665-F2B23ED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91050"/>
            <a:ext cx="1666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9525">
            <a:solidFill>
              <a:srgbClr val="C6CBEF"/>
            </a:solidFill>
            <a:prstDash val="solid"/>
          </a:ln>
        </p:spPr>
      </p:sp>
      <p:sp>
        <p:nvSpPr>
          <p:cNvPr id="55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F723D2C4-94A4-4B71-956B-E8A41836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91050"/>
            <a:ext cx="1762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56" name="text-36">
            <a:extLst xmlns:a="http://schemas.openxmlformats.org/drawingml/2006/main">
              <a:ext uri="{FF2B5EF4-FFF2-40B4-BE49-F238E27FC236}">
                <a16:creationId xmlns:a16="http://schemas.microsoft.com/office/drawing/2014/main" id="{A284DA0D-07E9-4CB6-9EC0-48CB295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19828"/>
            <a:ext cx="42672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PII + SECURITY</a:t>
            </a:r>
          </a:p>
        </p:txBody>
      </p:sp>
      <p:sp>
        <p:nvSpPr>
          <p:cNvPr id="57" name="text-37">
            <a:extLst xmlns:a="http://schemas.openxmlformats.org/drawingml/2006/main">
              <a:ext uri="{FF2B5EF4-FFF2-40B4-BE49-F238E27FC236}">
                <a16:creationId xmlns:a16="http://schemas.microsoft.com/office/drawing/2014/main" id="{78E77F71-86DC-4ED3-B0B2-D50528EA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943856"/>
            <a:ext cx="42672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Automated in the path</a:t>
            </a:r>
          </a:p>
        </p:txBody>
      </p:sp>
      <p:sp>
        <p:nvSpPr>
          <p:cNvPr id="58" name="text-38">
            <a:extLst xmlns:a="http://schemas.openxmlformats.org/drawingml/2006/main">
              <a:ext uri="{FF2B5EF4-FFF2-40B4-BE49-F238E27FC236}">
                <a16:creationId xmlns:a16="http://schemas.microsoft.com/office/drawing/2014/main" id="{37650594-260C-497F-8E74-34C52176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719828"/>
            <a:ext cx="24098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COMPLIANCE EVIDENCE</a:t>
            </a:r>
          </a:p>
        </p:txBody>
      </p:sp>
      <p:sp>
        <p:nvSpPr>
          <p:cNvPr id="59" name="text-39">
            <a:extLst xmlns:a="http://schemas.openxmlformats.org/drawingml/2006/main">
              <a:ext uri="{FF2B5EF4-FFF2-40B4-BE49-F238E27FC236}">
                <a16:creationId xmlns:a16="http://schemas.microsoft.com/office/drawing/2014/main" id="{34BAB834-B5F9-46EB-8EE8-85C27730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943856"/>
            <a:ext cx="24098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Ready at every review</a:t>
            </a:r>
          </a:p>
        </p:txBody>
      </p:sp>
      <p:sp>
        <p:nvSpPr>
          <p:cNvPr id="60" name="text-40">
            <a:extLst xmlns:a="http://schemas.openxmlformats.org/drawingml/2006/main">
              <a:ext uri="{FF2B5EF4-FFF2-40B4-BE49-F238E27FC236}">
                <a16:creationId xmlns:a16="http://schemas.microsoft.com/office/drawing/2014/main" id="{637E4194-1EB5-4027-A61B-6B19393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SIX AGENT FAMILIES ACROSS A REGULATED SDLC</a:t>
            </a:r>
          </a:p>
        </p:txBody>
      </p:sp>
      <p:sp>
        <p:nvSpPr>
          <p:cNvPr id="61" name="rectangle-20">
            <a:extLst xmlns:a="http://schemas.openxmlformats.org/drawingml/2006/main">
              <a:ext uri="{FF2B5EF4-FFF2-40B4-BE49-F238E27FC236}">
                <a16:creationId xmlns:a16="http://schemas.microsoft.com/office/drawing/2014/main" id="{5D2FD6C9-35A2-4EEE-8369-697E3B87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rectangle-21">
            <a:extLst xmlns:a="http://schemas.openxmlformats.org/drawingml/2006/main">
              <a:ext uri="{FF2B5EF4-FFF2-40B4-BE49-F238E27FC236}">
                <a16:creationId xmlns:a16="http://schemas.microsoft.com/office/drawing/2014/main" id="{135B23C2-993D-48E7-BD10-B2CFF66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3" name="line-22">
            <a:extLst xmlns:a="http://schemas.openxmlformats.org/drawingml/2006/main">
              <a:ext uri="{FF2B5EF4-FFF2-40B4-BE49-F238E27FC236}">
                <a16:creationId xmlns:a16="http://schemas.microsoft.com/office/drawing/2014/main" id="{C78AB107-1D27-413E-96D3-278E7F3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4" name="line-23">
            <a:extLst xmlns:a="http://schemas.openxmlformats.org/drawingml/2006/main">
              <a:ext uri="{FF2B5EF4-FFF2-40B4-BE49-F238E27FC236}">
                <a16:creationId xmlns:a16="http://schemas.microsoft.com/office/drawing/2014/main" id="{2AF75D92-9F0C-46C9-AA49-1FC1E4B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5" name="line-24">
            <a:extLst xmlns:a="http://schemas.openxmlformats.org/drawingml/2006/main">
              <a:ext uri="{FF2B5EF4-FFF2-40B4-BE49-F238E27FC236}">
                <a16:creationId xmlns:a16="http://schemas.microsoft.com/office/drawing/2014/main" id="{3AE702DE-230C-401F-ABF4-37DC99E2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6" name="line-25">
            <a:extLst xmlns:a="http://schemas.openxmlformats.org/drawingml/2006/main">
              <a:ext uri="{FF2B5EF4-FFF2-40B4-BE49-F238E27FC236}">
                <a16:creationId xmlns:a16="http://schemas.microsoft.com/office/drawing/2014/main" id="{C2BCD99D-8A08-43A0-9B8E-FEE9A50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7" name="line-26">
            <a:extLst xmlns:a="http://schemas.openxmlformats.org/drawingml/2006/main">
              <a:ext uri="{FF2B5EF4-FFF2-40B4-BE49-F238E27FC236}">
                <a16:creationId xmlns:a16="http://schemas.microsoft.com/office/drawing/2014/main" id="{61C42DA9-8AE8-4205-AC81-BB8FA87C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8" name="text-41">
            <a:extLst xmlns:a="http://schemas.openxmlformats.org/drawingml/2006/main">
              <a:ext uri="{FF2B5EF4-FFF2-40B4-BE49-F238E27FC236}">
                <a16:creationId xmlns:a16="http://schemas.microsoft.com/office/drawing/2014/main" id="{B689648A-B728-4D1A-86C9-95362F0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3285"/>
            <a:ext cx="1409700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BUSINESS ANALYSIS</a:t>
            </a:r>
          </a:p>
        </p:txBody>
      </p:sp>
      <p:sp>
        <p:nvSpPr>
          <p:cNvPr id="69" name="text-42">
            <a:extLst xmlns:a="http://schemas.openxmlformats.org/drawingml/2006/main">
              <a:ext uri="{FF2B5EF4-FFF2-40B4-BE49-F238E27FC236}">
                <a16:creationId xmlns:a16="http://schemas.microsoft.com/office/drawing/2014/main" id="{AF381DD9-17E4-4E48-863C-F4122F9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96556"/>
            <a:ext cx="140970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Rules and requirements</a:t>
            </a:r>
          </a:p>
        </p:txBody>
      </p:sp>
      <p:sp>
        <p:nvSpPr>
          <p:cNvPr id="70" name="text-43">
            <a:extLst xmlns:a="http://schemas.openxmlformats.org/drawingml/2006/main">
              <a:ext uri="{FF2B5EF4-FFF2-40B4-BE49-F238E27FC236}">
                <a16:creationId xmlns:a16="http://schemas.microsoft.com/office/drawing/2014/main" id="{3F134549-50F0-4953-B00B-DDD31EAC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233285"/>
            <a:ext cx="117824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ARCHITECTURE</a:t>
            </a:r>
          </a:p>
        </p:txBody>
      </p:sp>
      <p:sp>
        <p:nvSpPr>
          <p:cNvPr id="71" name="text-44">
            <a:extLst xmlns:a="http://schemas.openxmlformats.org/drawingml/2006/main">
              <a:ext uri="{FF2B5EF4-FFF2-40B4-BE49-F238E27FC236}">
                <a16:creationId xmlns:a16="http://schemas.microsoft.com/office/drawing/2014/main" id="{780FFC56-D010-4E7A-A82B-90E0F601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496556"/>
            <a:ext cx="117824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Design and dependencies</a:t>
            </a:r>
          </a:p>
        </p:txBody>
      </p:sp>
      <p:sp>
        <p:nvSpPr>
          <p:cNvPr id="72" name="text-45">
            <a:extLst xmlns:a="http://schemas.openxmlformats.org/drawingml/2006/main">
              <a:ext uri="{FF2B5EF4-FFF2-40B4-BE49-F238E27FC236}">
                <a16:creationId xmlns:a16="http://schemas.microsoft.com/office/drawing/2014/main" id="{8AFEFFB1-4930-4CE2-B9E5-AADABD1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233285"/>
            <a:ext cx="94678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ENGINEERING</a:t>
            </a:r>
          </a:p>
        </p:txBody>
      </p:sp>
      <p:sp>
        <p:nvSpPr>
          <p:cNvPr id="73" name="text-46">
            <a:extLst xmlns:a="http://schemas.openxmlformats.org/drawingml/2006/main">
              <a:ext uri="{FF2B5EF4-FFF2-40B4-BE49-F238E27FC236}">
                <a16:creationId xmlns:a16="http://schemas.microsoft.com/office/drawing/2014/main" id="{E75D86E2-5052-46D1-9542-C1A5B781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496556"/>
            <a:ext cx="946785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Code and review</a:t>
            </a:r>
          </a:p>
        </p:txBody>
      </p:sp>
      <p:sp>
        <p:nvSpPr>
          <p:cNvPr id="74" name="text-47">
            <a:extLst xmlns:a="http://schemas.openxmlformats.org/drawingml/2006/main">
              <a:ext uri="{FF2B5EF4-FFF2-40B4-BE49-F238E27FC236}">
                <a16:creationId xmlns:a16="http://schemas.microsoft.com/office/drawing/2014/main" id="{BF0D23EF-4D14-4AFE-A7FE-7A079486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233285"/>
            <a:ext cx="715327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SECURITY</a:t>
            </a:r>
          </a:p>
        </p:txBody>
      </p:sp>
      <p:sp>
        <p:nvSpPr>
          <p:cNvPr id="75" name="text-48">
            <a:extLst xmlns:a="http://schemas.openxmlformats.org/drawingml/2006/main">
              <a:ext uri="{FF2B5EF4-FFF2-40B4-BE49-F238E27FC236}">
                <a16:creationId xmlns:a16="http://schemas.microsoft.com/office/drawing/2014/main" id="{E1EF6047-B3E1-4FB4-8FFD-A4731201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496556"/>
            <a:ext cx="715327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PII and access controls</a:t>
            </a:r>
          </a:p>
        </p:txBody>
      </p:sp>
      <p:sp>
        <p:nvSpPr>
          <p:cNvPr id="76" name="text-49">
            <a:extLst xmlns:a="http://schemas.openxmlformats.org/drawingml/2006/main">
              <a:ext uri="{FF2B5EF4-FFF2-40B4-BE49-F238E27FC236}">
                <a16:creationId xmlns:a16="http://schemas.microsoft.com/office/drawing/2014/main" id="{0EDC93B4-9D62-434C-8B58-D23100E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33285"/>
            <a:ext cx="483870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COMPLIANCE</a:t>
            </a:r>
          </a:p>
        </p:txBody>
      </p:sp>
      <p:sp>
        <p:nvSpPr>
          <p:cNvPr id="77" name="text-50">
            <a:extLst xmlns:a="http://schemas.openxmlformats.org/drawingml/2006/main">
              <a:ext uri="{FF2B5EF4-FFF2-40B4-BE49-F238E27FC236}">
                <a16:creationId xmlns:a16="http://schemas.microsoft.com/office/drawing/2014/main" id="{B54B8139-2CB3-4E17-9781-89ADAD5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496556"/>
            <a:ext cx="4838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Policy and evidence</a:t>
            </a:r>
          </a:p>
        </p:txBody>
      </p:sp>
      <p:sp>
        <p:nvSpPr>
          <p:cNvPr id="78" name="text-51">
            <a:extLst xmlns:a="http://schemas.openxmlformats.org/drawingml/2006/main">
              <a:ext uri="{FF2B5EF4-FFF2-40B4-BE49-F238E27FC236}">
                <a16:creationId xmlns:a16="http://schemas.microsoft.com/office/drawing/2014/main" id="{2DC9C98C-915C-48C5-A6A4-9A182DEC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233285"/>
            <a:ext cx="25241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QUALITY</a:t>
            </a:r>
          </a:p>
        </p:txBody>
      </p:sp>
      <p:sp>
        <p:nvSpPr>
          <p:cNvPr id="79" name="text-52">
            <a:extLst xmlns:a="http://schemas.openxmlformats.org/drawingml/2006/main">
              <a:ext uri="{FF2B5EF4-FFF2-40B4-BE49-F238E27FC236}">
                <a16:creationId xmlns:a16="http://schemas.microsoft.com/office/drawing/2014/main" id="{DA076DE5-5F97-4CB6-ACA4-0E91667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496556"/>
            <a:ext cx="25241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Functional validation</a:t>
            </a:r>
          </a:p>
        </p:txBody>
      </p:sp>
      <p:sp>
        <p:nvSpPr>
          <p:cNvPr id="80" name="text-53">
            <a:extLst xmlns:a="http://schemas.openxmlformats.org/drawingml/2006/main">
              <a:ext uri="{FF2B5EF4-FFF2-40B4-BE49-F238E27FC236}">
                <a16:creationId xmlns:a16="http://schemas.microsoft.com/office/drawing/2014/main" id="{10A53E60-C4A6-4939-B958-A070DAF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The bank accelerated delivery by making security, compliance and evidence part of the engineering flow</a:t>
            </a:r>
          </a:p>
        </p:txBody>
      </p:sp>
      <p:sp>
        <p:nvSpPr>
          <p:cNvPr id="81" name="text-54">
            <a:extLst xmlns:a="http://schemas.openxmlformats.org/drawingml/2006/main">
              <a:ext uri="{FF2B5EF4-FFF2-40B4-BE49-F238E27FC236}">
                <a16:creationId xmlns:a16="http://schemas.microsoft.com/office/drawing/2014/main" id="{2A6322CC-6BCA-4C8D-9D16-0CE16AB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1958881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rectangle-1">
            <a:extLst xmlns:a="http://schemas.openxmlformats.org/drawingml/2006/main">
              <a:ext uri="{FF2B5EF4-FFF2-40B4-BE49-F238E27FC236}">
                <a16:creationId xmlns:a16="http://schemas.microsoft.com/office/drawing/2014/main" id="{4C12D2DF-AACF-4A07-B657-21DFBE19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4D47255F-F900-4AA5-9E04-0A60AE94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BA8B3CE-97E0-4DDC-9368-CFC4C81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612550E-928F-4273-BC26-A228DC4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Healthcare &amp; Life Sciences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097E2A8-F624-447E-ADBB-0720486B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Startup delivery model for a five-portal portfolio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3A4B27E-EB37-4868-88C0-673659AA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A 12-person scrum team became four AI-enabled mini-pods working from executable product specifications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D52B50C-30E7-4379-AFBB-B63146D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B9B08BB-D726-4899-84A8-3A615A7E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80E5C2C-6150-4DD3-94EB-999920CF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47A64016-DD35-4E8E-9B9C-E6F8B91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42050887-067E-48DF-883F-D57F1C9D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73d06e41044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5F6DE0C2-CC00-43CA-A87A-6521731B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1DECF812-68FF-48ED-A5F4-B319991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926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One scrum team could move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CFFE5586-408A-48F0-A591-5351792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69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only one portal at a time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382AE08F-64B6-4D92-8F9B-C7C30FD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2331BA72-C334-4478-BE6E-A3FF453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76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Traditional delivery required 6–8 months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4713E77B-420F-412B-88DC-01F7BBA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76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The five-portal queue exceeded the market window</a:t>
            </a:r>
          </a:p>
        </p:txBody>
      </p:sp>
      <p:sp>
        <p:nvSpPr>
          <p:cNvPr id="19" name="circle-7">
            <a:extLst xmlns:a="http://schemas.openxmlformats.org/drawingml/2006/main">
              <a:ext uri="{FF2B5EF4-FFF2-40B4-BE49-F238E27FC236}">
                <a16:creationId xmlns:a16="http://schemas.microsoft.com/office/drawing/2014/main" id="{C8B6D8CB-6A08-4C3D-80A4-E35B698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78A69307-D7EF-443E-9EB3-91757C6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15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Roles were organized around functions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99659765-0ECF-4364-8A6D-4256E23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5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Handoffs separated domain, build and quality work</a:t>
            </a:r>
          </a:p>
        </p:txBody>
      </p:sp>
      <p:sp>
        <p:nvSpPr>
          <p:cNvPr id="22" name="circle-8">
            <a:extLst xmlns:a="http://schemas.openxmlformats.org/drawingml/2006/main">
              <a:ext uri="{FF2B5EF4-FFF2-40B4-BE49-F238E27FC236}">
                <a16:creationId xmlns:a16="http://schemas.microsoft.com/office/drawing/2014/main" id="{DAB2D9BA-5F81-4172-9026-B08A9EE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2FBF29D8-3F40-4E0A-88C4-31C2D78B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53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Every portal repeated the setup effort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C441C328-8693-4E9F-AFD8-BB03C49A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54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Requirements and controls had to be rebuilt</a:t>
            </a:r>
          </a:p>
        </p:txBody>
      </p:sp>
      <p:sp>
        <p:nvSpPr>
          <p:cNvPr id="25" name="line-9">
            <a:extLst xmlns:a="http://schemas.openxmlformats.org/drawingml/2006/main">
              <a:ext uri="{FF2B5EF4-FFF2-40B4-BE49-F238E27FC236}">
                <a16:creationId xmlns:a16="http://schemas.microsoft.com/office/drawing/2014/main" id="{AAA4D9D9-B383-42B4-924B-3823094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6" name="circle-10">
            <a:extLst xmlns:a="http://schemas.openxmlformats.org/drawingml/2006/main">
              <a:ext uri="{FF2B5EF4-FFF2-40B4-BE49-F238E27FC236}">
                <a16:creationId xmlns:a16="http://schemas.microsoft.com/office/drawing/2014/main" id="{162FAA00-9C11-41B8-AE1A-7343B8AE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7" name="text-16">
            <a:extLst xmlns:a="http://schemas.openxmlformats.org/drawingml/2006/main">
              <a:ext uri="{FF2B5EF4-FFF2-40B4-BE49-F238E27FC236}">
                <a16:creationId xmlns:a16="http://schemas.microsoft.com/office/drawing/2014/main" id="{696C6539-5E22-414F-BB61-493C2CA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CA0035D6-407C-483B-A7B8-AF02D238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Converted journeys into executable specifications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8B0E75B2-979B-4595-B4EF-6F0EC7C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Requirements, acceptance rules and controls stayed linked through release</a:t>
            </a:r>
          </a:p>
        </p:txBody>
      </p:sp>
      <p:sp>
        <p:nvSpPr>
          <p:cNvPr id="30" name="circle-11">
            <a:extLst xmlns:a="http://schemas.openxmlformats.org/drawingml/2006/main">
              <a:ext uri="{FF2B5EF4-FFF2-40B4-BE49-F238E27FC236}">
                <a16:creationId xmlns:a16="http://schemas.microsoft.com/office/drawing/2014/main" id="{CC785452-897A-468F-B9CC-413787F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05A32DE6-645E-4CF7-8742-9ADA628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44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F50F9936-12EF-41E9-81AC-19605F8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91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Formed four three-person outcome pods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5F5FAED9-227C-428B-9BB2-128958B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Each pod combined domain, engineering and quality ownership</a:t>
            </a:r>
          </a:p>
        </p:txBody>
      </p:sp>
      <p:sp>
        <p:nvSpPr>
          <p:cNvPr id="34" name="circle-12">
            <a:extLst xmlns:a="http://schemas.openxmlformats.org/drawingml/2006/main">
              <a:ext uri="{FF2B5EF4-FFF2-40B4-BE49-F238E27FC236}">
                <a16:creationId xmlns:a16="http://schemas.microsoft.com/office/drawing/2014/main" id="{CEAA0A2F-4651-4B3E-AE5E-B3083EC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35" name="text-22">
            <a:extLst xmlns:a="http://schemas.openxmlformats.org/drawingml/2006/main">
              <a:ext uri="{FF2B5EF4-FFF2-40B4-BE49-F238E27FC236}">
                <a16:creationId xmlns:a16="http://schemas.microsoft.com/office/drawing/2014/main" id="{5C63A882-E785-46F7-BFE4-CB36162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50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B2313DDE-6020-49FA-80CF-35A14C4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97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Proved the model, then ran portals in parallel</a:t>
            </a:r>
          </a:p>
        </p:txBody>
      </p:sp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74F31781-CA26-4A80-980B-5901687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The first pod shipped in one month and the pattern moved to the portfolio</a:t>
            </a:r>
          </a:p>
        </p:txBody>
      </p:sp>
      <p:sp>
        <p:nvSpPr>
          <p:cNvPr id="38" name="line-13">
            <a:extLst xmlns:a="http://schemas.openxmlformats.org/drawingml/2006/main">
              <a:ext uri="{FF2B5EF4-FFF2-40B4-BE49-F238E27FC236}">
                <a16:creationId xmlns:a16="http://schemas.microsoft.com/office/drawing/2014/main" id="{CEE7B175-4AD3-4D13-B38E-DAA8346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67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EEA"/>
            </a:solidFill>
            <a:prstDash val="solid"/>
          </a:ln>
        </p:spPr>
      </p:sp>
      <p:sp>
        <p:nvSpPr>
          <p:cNvPr id="39" name="text-25">
            <a:extLst xmlns:a="http://schemas.openxmlformats.org/drawingml/2006/main">
              <a:ext uri="{FF2B5EF4-FFF2-40B4-BE49-F238E27FC236}">
                <a16:creationId xmlns:a16="http://schemas.microsoft.com/office/drawing/2014/main" id="{374AA03B-3087-45AB-8338-803C0AA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20106"/>
            <a:ext cx="10172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THREE ROLES IN EVERY MINI-POD</a:t>
            </a:r>
          </a:p>
        </p:txBody>
      </p:sp>
      <p:sp>
        <p:nvSpPr>
          <p:cNvPr id="40" name="text-26">
            <a:extLst xmlns:a="http://schemas.openxmlformats.org/drawingml/2006/main">
              <a:ext uri="{FF2B5EF4-FFF2-40B4-BE49-F238E27FC236}">
                <a16:creationId xmlns:a16="http://schemas.microsoft.com/office/drawing/2014/main" id="{869B8A3C-CC22-41D8-B7D8-5A680F86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00522"/>
            <a:ext cx="101727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Domain lead</a:t>
            </a:r>
          </a:p>
        </p:txBody>
      </p:sp>
      <p:sp>
        <p:nvSpPr>
          <p:cNvPr id="41" name="text-27">
            <a:extLst xmlns:a="http://schemas.openxmlformats.org/drawingml/2006/main">
              <a:ext uri="{FF2B5EF4-FFF2-40B4-BE49-F238E27FC236}">
                <a16:creationId xmlns:a16="http://schemas.microsoft.com/office/drawing/2014/main" id="{F7E3D68E-D063-4058-B36B-42CD611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00522"/>
            <a:ext cx="86677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AI-enabled engineer</a:t>
            </a:r>
          </a:p>
        </p:txBody>
      </p:sp>
      <p:sp>
        <p:nvSpPr>
          <p:cNvPr id="42" name="text-28">
            <a:extLst xmlns:a="http://schemas.openxmlformats.org/drawingml/2006/main">
              <a:ext uri="{FF2B5EF4-FFF2-40B4-BE49-F238E27FC236}">
                <a16:creationId xmlns:a16="http://schemas.microsoft.com/office/drawing/2014/main" id="{00E1AC13-BCC4-4413-A0BA-944A11A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700522"/>
            <a:ext cx="68865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Quality + compliance</a:t>
            </a:r>
          </a:p>
        </p:txBody>
      </p:sp>
      <p:sp>
        <p:nvSpPr>
          <p:cNvPr id="43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4E21196C-59D7-4E4F-A4F1-F736DB0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143250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708BF716-B4EF-460D-A130-FE593F90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5" name="line-16">
            <a:extLst xmlns:a="http://schemas.openxmlformats.org/drawingml/2006/main">
              <a:ext uri="{FF2B5EF4-FFF2-40B4-BE49-F238E27FC236}">
                <a16:creationId xmlns:a16="http://schemas.microsoft.com/office/drawing/2014/main" id="{5D1D7122-819C-481E-AA4F-A7A1ABF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908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6" name="line-17">
            <a:extLst xmlns:a="http://schemas.openxmlformats.org/drawingml/2006/main">
              <a:ext uri="{FF2B5EF4-FFF2-40B4-BE49-F238E27FC236}">
                <a16:creationId xmlns:a16="http://schemas.microsoft.com/office/drawing/2014/main" id="{51C68ECD-86E7-4D4B-9456-B05F1EC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576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7" name="text-29">
            <a:extLst xmlns:a="http://schemas.openxmlformats.org/drawingml/2006/main">
              <a:ext uri="{FF2B5EF4-FFF2-40B4-BE49-F238E27FC236}">
                <a16:creationId xmlns:a16="http://schemas.microsoft.com/office/drawing/2014/main" id="{E3961FD7-B0F6-41E8-8D6B-F80B1B59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5747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FIRST PRODUCTION PORTAL</a:t>
            </a:r>
          </a:p>
        </p:txBody>
      </p:sp>
      <p:sp>
        <p:nvSpPr>
          <p:cNvPr id="48" name="text-30">
            <a:extLst xmlns:a="http://schemas.openxmlformats.org/drawingml/2006/main">
              <a:ext uri="{FF2B5EF4-FFF2-40B4-BE49-F238E27FC236}">
                <a16:creationId xmlns:a16="http://schemas.microsoft.com/office/drawing/2014/main" id="{B8C09F4E-EB16-4BB2-A3B1-70B8BB7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39059"/>
            <a:ext cx="44291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 month</a:t>
            </a:r>
          </a:p>
        </p:txBody>
      </p:sp>
      <p:sp>
        <p:nvSpPr>
          <p:cNvPr id="49" name="text-31">
            <a:extLst xmlns:a="http://schemas.openxmlformats.org/drawingml/2006/main">
              <a:ext uri="{FF2B5EF4-FFF2-40B4-BE49-F238E27FC236}">
                <a16:creationId xmlns:a16="http://schemas.microsoft.com/office/drawing/2014/main" id="{F85810DB-A4ED-4946-802E-3F1A9D9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14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VERSUS 6–8 MONTHS</a:t>
            </a:r>
          </a:p>
        </p:txBody>
      </p:sp>
      <p:sp>
        <p:nvSpPr>
          <p:cNvPr id="50" name="text-32">
            <a:extLst xmlns:a="http://schemas.openxmlformats.org/drawingml/2006/main">
              <a:ext uri="{FF2B5EF4-FFF2-40B4-BE49-F238E27FC236}">
                <a16:creationId xmlns:a16="http://schemas.microsoft.com/office/drawing/2014/main" id="{64562F63-D717-4564-A9D9-3CADB296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5747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DELIVERY SPEED</a:t>
            </a:r>
          </a:p>
        </p:txBody>
      </p:sp>
      <p:sp>
        <p:nvSpPr>
          <p:cNvPr id="51" name="text-33">
            <a:extLst xmlns:a="http://schemas.openxmlformats.org/drawingml/2006/main">
              <a:ext uri="{FF2B5EF4-FFF2-40B4-BE49-F238E27FC236}">
                <a16:creationId xmlns:a16="http://schemas.microsoft.com/office/drawing/2014/main" id="{0A6D8A6F-7325-41DE-8D3F-700866B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39059"/>
            <a:ext cx="23812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7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~5x</a:t>
            </a:r>
          </a:p>
        </p:txBody>
      </p:sp>
      <p:sp>
        <p:nvSpPr>
          <p:cNvPr id="52" name="text-34">
            <a:extLst xmlns:a="http://schemas.openxmlformats.org/drawingml/2006/main">
              <a:ext uri="{FF2B5EF4-FFF2-40B4-BE49-F238E27FC236}">
                <a16:creationId xmlns:a16="http://schemas.microsoft.com/office/drawing/2014/main" id="{E9D14362-61A6-4388-AC0D-1E49A7F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614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FASTER PORTAL DELIVERY</a:t>
            </a:r>
          </a:p>
        </p:txBody>
      </p:sp>
      <p:sp>
        <p:nvSpPr>
          <p:cNvPr id="53" name="text-35">
            <a:extLst xmlns:a="http://schemas.openxmlformats.org/drawingml/2006/main">
              <a:ext uri="{FF2B5EF4-FFF2-40B4-BE49-F238E27FC236}">
                <a16:creationId xmlns:a16="http://schemas.microsoft.com/office/drawing/2014/main" id="{18149D2D-135B-4B3A-B49D-3A2BE7A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7672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QUALITY AND CONTROL</a:t>
            </a:r>
          </a:p>
        </p:txBody>
      </p:sp>
      <p:sp>
        <p:nvSpPr>
          <p:cNvPr id="54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6CB42988-FD34-434F-871F-9A02D34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91050"/>
            <a:ext cx="1666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9525">
            <a:solidFill>
              <a:srgbClr val="C6CBEF"/>
            </a:solidFill>
            <a:prstDash val="solid"/>
          </a:ln>
        </p:spPr>
      </p:sp>
      <p:sp>
        <p:nvSpPr>
          <p:cNvPr id="55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4C099CAE-EF24-41D3-A7B9-EA0F7F68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91050"/>
            <a:ext cx="1762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56" name="text-36">
            <a:extLst xmlns:a="http://schemas.openxmlformats.org/drawingml/2006/main">
              <a:ext uri="{FF2B5EF4-FFF2-40B4-BE49-F238E27FC236}">
                <a16:creationId xmlns:a16="http://schemas.microsoft.com/office/drawing/2014/main" id="{6763FE32-3EFA-4EE7-B9DA-D1A1955A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19828"/>
            <a:ext cx="42672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SPEC-DRIVEN</a:t>
            </a:r>
          </a:p>
        </p:txBody>
      </p:sp>
      <p:sp>
        <p:nvSpPr>
          <p:cNvPr id="57" name="text-37">
            <a:extLst xmlns:a="http://schemas.openxmlformats.org/drawingml/2006/main">
              <a:ext uri="{FF2B5EF4-FFF2-40B4-BE49-F238E27FC236}">
                <a16:creationId xmlns:a16="http://schemas.microsoft.com/office/drawing/2014/main" id="{792E1D8B-8CF5-4713-BB8F-235D84B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943856"/>
            <a:ext cx="42672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Evidence followed the spec</a:t>
            </a:r>
          </a:p>
        </p:txBody>
      </p:sp>
      <p:sp>
        <p:nvSpPr>
          <p:cNvPr id="58" name="text-38">
            <a:extLst xmlns:a="http://schemas.openxmlformats.org/drawingml/2006/main">
              <a:ext uri="{FF2B5EF4-FFF2-40B4-BE49-F238E27FC236}">
                <a16:creationId xmlns:a16="http://schemas.microsoft.com/office/drawing/2014/main" id="{F59C1A68-1473-4E58-86B5-19DBC91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719828"/>
            <a:ext cx="24098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EMBEDDED CONTROL</a:t>
            </a:r>
          </a:p>
        </p:txBody>
      </p:sp>
      <p:sp>
        <p:nvSpPr>
          <p:cNvPr id="59" name="text-39">
            <a:extLst xmlns:a="http://schemas.openxmlformats.org/drawingml/2006/main">
              <a:ext uri="{FF2B5EF4-FFF2-40B4-BE49-F238E27FC236}">
                <a16:creationId xmlns:a16="http://schemas.microsoft.com/office/drawing/2014/main" id="{A820FB1B-1C2B-4F9B-A5E8-717CE28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943856"/>
            <a:ext cx="24098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Compliance stayed in the pod</a:t>
            </a:r>
          </a:p>
        </p:txBody>
      </p:sp>
      <p:sp>
        <p:nvSpPr>
          <p:cNvPr id="60" name="text-40">
            <a:extLst xmlns:a="http://schemas.openxmlformats.org/drawingml/2006/main">
              <a:ext uri="{FF2B5EF4-FFF2-40B4-BE49-F238E27FC236}">
                <a16:creationId xmlns:a16="http://schemas.microsoft.com/office/drawing/2014/main" id="{CC099EBB-846C-4ADE-A8C6-5F9F012F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STARTUP OPERATING MODEL</a:t>
            </a:r>
          </a:p>
        </p:txBody>
      </p:sp>
      <p:sp>
        <p:nvSpPr>
          <p:cNvPr id="61" name="rectangle-20">
            <a:extLst xmlns:a="http://schemas.openxmlformats.org/drawingml/2006/main">
              <a:ext uri="{FF2B5EF4-FFF2-40B4-BE49-F238E27FC236}">
                <a16:creationId xmlns:a16="http://schemas.microsoft.com/office/drawing/2014/main" id="{21538BE7-5318-448B-895F-60BE3B5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rectangle-21">
            <a:extLst xmlns:a="http://schemas.openxmlformats.org/drawingml/2006/main">
              <a:ext uri="{FF2B5EF4-FFF2-40B4-BE49-F238E27FC236}">
                <a16:creationId xmlns:a16="http://schemas.microsoft.com/office/drawing/2014/main" id="{27D0E054-A759-4DBC-A11D-263E9BC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3" name="line-22">
            <a:extLst xmlns:a="http://schemas.openxmlformats.org/drawingml/2006/main">
              <a:ext uri="{FF2B5EF4-FFF2-40B4-BE49-F238E27FC236}">
                <a16:creationId xmlns:a16="http://schemas.microsoft.com/office/drawing/2014/main" id="{106AFA2B-840D-447B-B997-8E736477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4" name="line-23">
            <a:extLst xmlns:a="http://schemas.openxmlformats.org/drawingml/2006/main">
              <a:ext uri="{FF2B5EF4-FFF2-40B4-BE49-F238E27FC236}">
                <a16:creationId xmlns:a16="http://schemas.microsoft.com/office/drawing/2014/main" id="{E41F8264-2BFE-40C3-93C5-40507073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5" name="line-24">
            <a:extLst xmlns:a="http://schemas.openxmlformats.org/drawingml/2006/main">
              <a:ext uri="{FF2B5EF4-FFF2-40B4-BE49-F238E27FC236}">
                <a16:creationId xmlns:a16="http://schemas.microsoft.com/office/drawing/2014/main" id="{CE1A97E9-A8EA-4607-8492-063DE9A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6" name="text-41">
            <a:extLst xmlns:a="http://schemas.openxmlformats.org/drawingml/2006/main">
              <a:ext uri="{FF2B5EF4-FFF2-40B4-BE49-F238E27FC236}">
                <a16:creationId xmlns:a16="http://schemas.microsoft.com/office/drawing/2014/main" id="{DFB94C1F-3D93-4800-AFAB-4B8189C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33463"/>
            <a:ext cx="14001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67" name="text-42">
            <a:extLst xmlns:a="http://schemas.openxmlformats.org/drawingml/2006/main">
              <a:ext uri="{FF2B5EF4-FFF2-40B4-BE49-F238E27FC236}">
                <a16:creationId xmlns:a16="http://schemas.microsoft.com/office/drawing/2014/main" id="{FEEF59E5-A69C-4DCA-A17D-A8126E1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96556"/>
            <a:ext cx="1400175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PEOPLE IN THE ORIGINAL SCRUM TEAM</a:t>
            </a:r>
          </a:p>
        </p:txBody>
      </p:sp>
      <p:sp>
        <p:nvSpPr>
          <p:cNvPr id="68" name="text-43">
            <a:extLst xmlns:a="http://schemas.openxmlformats.org/drawingml/2006/main">
              <a:ext uri="{FF2B5EF4-FFF2-40B4-BE49-F238E27FC236}">
                <a16:creationId xmlns:a16="http://schemas.microsoft.com/office/drawing/2014/main" id="{B3E3E991-349D-4245-983A-C70D18BA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133463"/>
            <a:ext cx="1052512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69" name="text-44">
            <a:extLst xmlns:a="http://schemas.openxmlformats.org/drawingml/2006/main">
              <a:ext uri="{FF2B5EF4-FFF2-40B4-BE49-F238E27FC236}">
                <a16:creationId xmlns:a16="http://schemas.microsoft.com/office/drawing/2014/main" id="{0E0079C1-6E27-43B6-BA95-EEB900F6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96556"/>
            <a:ext cx="105251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PARALLEL MINI-PODS</a:t>
            </a:r>
          </a:p>
        </p:txBody>
      </p:sp>
      <p:sp>
        <p:nvSpPr>
          <p:cNvPr id="70" name="text-45">
            <a:extLst xmlns:a="http://schemas.openxmlformats.org/drawingml/2006/main">
              <a:ext uri="{FF2B5EF4-FFF2-40B4-BE49-F238E27FC236}">
                <a16:creationId xmlns:a16="http://schemas.microsoft.com/office/drawing/2014/main" id="{F4A413B2-8DFD-44BD-B10D-B249E4F3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133463"/>
            <a:ext cx="70485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71" name="text-46">
            <a:extLst xmlns:a="http://schemas.openxmlformats.org/drawingml/2006/main">
              <a:ext uri="{FF2B5EF4-FFF2-40B4-BE49-F238E27FC236}">
                <a16:creationId xmlns:a16="http://schemas.microsoft.com/office/drawing/2014/main" id="{3AA83983-8428-4AD7-B150-10425D73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96556"/>
            <a:ext cx="70485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COMPLEMENTARY ROLES PER POD</a:t>
            </a:r>
          </a:p>
        </p:txBody>
      </p:sp>
      <p:sp>
        <p:nvSpPr>
          <p:cNvPr id="72" name="text-47">
            <a:extLst xmlns:a="http://schemas.openxmlformats.org/drawingml/2006/main">
              <a:ext uri="{FF2B5EF4-FFF2-40B4-BE49-F238E27FC236}">
                <a16:creationId xmlns:a16="http://schemas.microsoft.com/office/drawing/2014/main" id="{2054C9B2-F95F-42E5-A99C-930445B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133463"/>
            <a:ext cx="3571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73" name="text-48">
            <a:extLst xmlns:a="http://schemas.openxmlformats.org/drawingml/2006/main">
              <a:ext uri="{FF2B5EF4-FFF2-40B4-BE49-F238E27FC236}">
                <a16:creationId xmlns:a16="http://schemas.microsoft.com/office/drawing/2014/main" id="{D9392B88-6398-498A-95B4-71F1909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496556"/>
            <a:ext cx="357187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PORTALS USING ONE DELIVERY PATTERN</a:t>
            </a:r>
          </a:p>
        </p:txBody>
      </p:sp>
      <p:sp>
        <p:nvSpPr>
          <p:cNvPr id="74" name="text-49">
            <a:extLst xmlns:a="http://schemas.openxmlformats.org/drawingml/2006/main">
              <a:ext uri="{FF2B5EF4-FFF2-40B4-BE49-F238E27FC236}">
                <a16:creationId xmlns:a16="http://schemas.microsoft.com/office/drawing/2014/main" id="{5219E8F0-3AFD-4BC1-9C85-DA52E37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Small outcome pods multiplied portfolio speed while executable specifications kept delivery in control</a:t>
            </a:r>
          </a:p>
        </p:txBody>
      </p:sp>
      <p:sp>
        <p:nvSpPr>
          <p:cNvPr id="75" name="text-50">
            <a:extLst xmlns:a="http://schemas.openxmlformats.org/drawingml/2006/main">
              <a:ext uri="{FF2B5EF4-FFF2-40B4-BE49-F238E27FC236}">
                <a16:creationId xmlns:a16="http://schemas.microsoft.com/office/drawing/2014/main" id="{25EA8AD8-EF54-4051-B22F-6C74AC0F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606148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rectangle-1">
            <a:extLst xmlns:a="http://schemas.openxmlformats.org/drawingml/2006/main">
              <a:ext uri="{FF2B5EF4-FFF2-40B4-BE49-F238E27FC236}">
                <a16:creationId xmlns:a16="http://schemas.microsoft.com/office/drawing/2014/main" id="{D8AD6E36-09EF-4DA0-893C-26BE640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728211AB-21F9-4F8F-BF5A-F41727EE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D0F5C0D-99C0-4CDA-9260-1CC55D14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8BDB7E5-B56F-4CA0-AE41-8D043A7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Professional Services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63F6309-18B8-4CC2-A1F6-0CB86CEC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Enterprise AI-SDLC adoption at scale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B0B1F10-9C0B-4B5B-A49D-DD6C35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A commercial AI product scaled through company context, delivery controls and governed execution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CEBD362-2782-4A2B-A6CC-A44D562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53049B3-7E60-4030-B6D2-1CCB1FB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3FDD8B1-D7CC-468B-AD99-F66BAF3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8C60C7FE-4EFD-4F1B-9FE5-6E543532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11503218-88F9-412B-B5E9-65E41449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5b284ec3141be"/>
          <a:srcRect xmlns:a="http://schemas.openxmlformats.org/drawingml/2006/main" l="618" t="0" r="6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6C7FCD28-3305-4155-87A0-FA16A295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63FCC9F1-8BA9-4B48-AAEA-80AF86A7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7843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Inconsistent adoption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567FBAD0-ED0B-4E80-8C1F-730EE4A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50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slowed delivery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4F0C9AA6-70EB-4FC3-9AC5-82C20DC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E403305C-0FC7-436E-BDE7-6E83E3B2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00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No shared starting point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282B9FF5-FE7B-4993-971D-A60448F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00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Business and application context rebuilt by team</a:t>
            </a:r>
          </a:p>
        </p:txBody>
      </p:sp>
      <p:sp>
        <p:nvSpPr>
          <p:cNvPr id="19" name="circle-7">
            <a:extLst xmlns:a="http://schemas.openxmlformats.org/drawingml/2006/main">
              <a:ext uri="{FF2B5EF4-FFF2-40B4-BE49-F238E27FC236}">
                <a16:creationId xmlns:a16="http://schemas.microsoft.com/office/drawing/2014/main" id="{D1ED27F8-432A-4264-87F2-41A94C4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62C97ACC-5DD9-4442-A561-2BF50D8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38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Trust re-earned on every change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D0556BB3-B859-4DBE-96A5-E6CD4EC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39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Repeated review before use</a:t>
            </a:r>
          </a:p>
        </p:txBody>
      </p:sp>
      <p:sp>
        <p:nvSpPr>
          <p:cNvPr id="22" name="circle-8">
            <a:extLst xmlns:a="http://schemas.openxmlformats.org/drawingml/2006/main">
              <a:ext uri="{FF2B5EF4-FFF2-40B4-BE49-F238E27FC236}">
                <a16:creationId xmlns:a16="http://schemas.microsoft.com/office/drawing/2014/main" id="{8CDAB054-6792-44C5-B52A-1B2AE4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2A4CCFEA-0C67-4993-BF01-21E1EE4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77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Limited portfolio visibility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662D0FA3-0B0A-4296-BBFB-D140D9BC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77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Quality, cost and progress varied</a:t>
            </a:r>
          </a:p>
        </p:txBody>
      </p:sp>
      <p:sp>
        <p:nvSpPr>
          <p:cNvPr id="25" name="line-9">
            <a:extLst xmlns:a="http://schemas.openxmlformats.org/drawingml/2006/main">
              <a:ext uri="{FF2B5EF4-FFF2-40B4-BE49-F238E27FC236}">
                <a16:creationId xmlns:a16="http://schemas.microsoft.com/office/drawing/2014/main" id="{328A6C94-B0B6-4ABF-8A32-A3908DA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6" name="circle-10">
            <a:extLst xmlns:a="http://schemas.openxmlformats.org/drawingml/2006/main">
              <a:ext uri="{FF2B5EF4-FFF2-40B4-BE49-F238E27FC236}">
                <a16:creationId xmlns:a16="http://schemas.microsoft.com/office/drawing/2014/main" id="{EB82340F-574A-467E-AEF9-14F224BF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7" name="text-16">
            <a:extLst xmlns:a="http://schemas.openxmlformats.org/drawingml/2006/main">
              <a:ext uri="{FF2B5EF4-FFF2-40B4-BE49-F238E27FC236}">
                <a16:creationId xmlns:a16="http://schemas.microsoft.com/office/drawing/2014/main" id="{4614255A-AFBA-4A0D-8A94-2400B55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3485509C-2248-4555-9886-027114B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Commercial AI product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2D44ABA5-D834-429E-875B-3DAA835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Common model and tool foundation</a:t>
            </a:r>
          </a:p>
        </p:txBody>
      </p:sp>
      <p:sp>
        <p:nvSpPr>
          <p:cNvPr id="30" name="circle-11">
            <a:extLst xmlns:a="http://schemas.openxmlformats.org/drawingml/2006/main">
              <a:ext uri="{FF2B5EF4-FFF2-40B4-BE49-F238E27FC236}">
                <a16:creationId xmlns:a16="http://schemas.microsoft.com/office/drawing/2014/main" id="{72B9D756-8DE0-4070-A9F2-28A2119F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81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A6DF4A28-42BD-4187-9FCA-37DC9308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1578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20FBAAAD-D6E0-4B25-82DE-6974CFF7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46323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Context + harness layers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C9FAAF14-A669-4678-B3D1-B042B45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29025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Company knowledge and delivery controls</a:t>
            </a:r>
          </a:p>
        </p:txBody>
      </p:sp>
      <p:sp>
        <p:nvSpPr>
          <p:cNvPr id="34" name="rectangle-12">
            <a:extLst xmlns:a="http://schemas.openxmlformats.org/drawingml/2006/main">
              <a:ext uri="{FF2B5EF4-FFF2-40B4-BE49-F238E27FC236}">
                <a16:creationId xmlns:a16="http://schemas.microsoft.com/office/drawing/2014/main" id="{7E462106-9A71-4CF6-9250-44CF94F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21336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1430">
            <a:solidFill>
              <a:srgbClr val="BFC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rectangle-13">
            <a:extLst xmlns:a="http://schemas.openxmlformats.org/drawingml/2006/main">
              <a:ext uri="{FF2B5EF4-FFF2-40B4-BE49-F238E27FC236}">
                <a16:creationId xmlns:a16="http://schemas.microsoft.com/office/drawing/2014/main" id="{8F48D685-3E45-42C5-8638-6BE6818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21336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8FA"/>
          </a:solidFill>
          <a:ln xmlns:a="http://schemas.openxmlformats.org/drawingml/2006/main" w="11430">
            <a:solidFill>
              <a:srgbClr val="B8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1AF32216-BC96-440D-ADF1-ED88BF4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7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835C074D-28ED-412C-BC5E-10A0A3BB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AFC5"/>
          </a:solidFill>
          <a:ln xmlns:a="http://schemas.openxmlformats.org/drawingml/2006/main" w="0">
            <a:noFill/>
          </a:ln>
        </p:spPr>
      </p:sp>
      <p:sp>
        <p:nvSpPr>
          <p:cNvPr id="38" name="text-22">
            <a:extLst xmlns:a="http://schemas.openxmlformats.org/drawingml/2006/main">
              <a:ext uri="{FF2B5EF4-FFF2-40B4-BE49-F238E27FC236}">
                <a16:creationId xmlns:a16="http://schemas.microsoft.com/office/drawing/2014/main" id="{7E9C8AE4-73F6-4AC8-9132-F9D9E744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7660"/>
            <a:ext cx="99250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CONTEXT</a:t>
            </a:r>
          </a:p>
        </p:txBody>
      </p:sp>
      <p:sp>
        <p:nvSpPr>
          <p:cNvPr id="39" name="text-23">
            <a:extLst xmlns:a="http://schemas.openxmlformats.org/drawingml/2006/main">
              <a:ext uri="{FF2B5EF4-FFF2-40B4-BE49-F238E27FC236}">
                <a16:creationId xmlns:a16="http://schemas.microsoft.com/office/drawing/2014/main" id="{5C788EB8-544A-4EF5-8B8A-92F4541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4172"/>
            <a:ext cx="99250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Business knowledge</a:t>
            </a:r>
          </a:p>
        </p:txBody>
      </p:sp>
      <p:sp>
        <p:nvSpPr>
          <p:cNvPr id="40" name="text-24">
            <a:extLst xmlns:a="http://schemas.openxmlformats.org/drawingml/2006/main">
              <a:ext uri="{FF2B5EF4-FFF2-40B4-BE49-F238E27FC236}">
                <a16:creationId xmlns:a16="http://schemas.microsoft.com/office/drawing/2014/main" id="{F6F6B395-AA3A-4EC9-BC31-CCA7FD4D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4197"/>
            <a:ext cx="99250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Application context</a:t>
            </a:r>
          </a:p>
        </p:txBody>
      </p:sp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AB074878-498E-4574-8504-C3B84C9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24222"/>
            <a:ext cx="99250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Engineering standards</a:t>
            </a:r>
          </a:p>
        </p:txBody>
      </p:sp>
      <p:sp>
        <p:nvSpPr>
          <p:cNvPr id="42" name="text-26">
            <a:extLst xmlns:a="http://schemas.openxmlformats.org/drawingml/2006/main">
              <a:ext uri="{FF2B5EF4-FFF2-40B4-BE49-F238E27FC236}">
                <a16:creationId xmlns:a16="http://schemas.microsoft.com/office/drawing/2014/main" id="{18A7E811-7B88-45EB-91D8-E754133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7660"/>
            <a:ext cx="75247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HARNESS</a:t>
            </a:r>
          </a:p>
        </p:txBody>
      </p:sp>
      <p:sp>
        <p:nvSpPr>
          <p:cNvPr id="43" name="text-27">
            <a:extLst xmlns:a="http://schemas.openxmlformats.org/drawingml/2006/main">
              <a:ext uri="{FF2B5EF4-FFF2-40B4-BE49-F238E27FC236}">
                <a16:creationId xmlns:a16="http://schemas.microsoft.com/office/drawing/2014/main" id="{C7FB135E-C319-4C06-92F9-50F5E16F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4172"/>
            <a:ext cx="75247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Controlled execution</a:t>
            </a:r>
          </a:p>
        </p:txBody>
      </p:sp>
      <p:sp>
        <p:nvSpPr>
          <p:cNvPr id="44" name="text-28">
            <a:extLst xmlns:a="http://schemas.openxmlformats.org/drawingml/2006/main">
              <a:ext uri="{FF2B5EF4-FFF2-40B4-BE49-F238E27FC236}">
                <a16:creationId xmlns:a16="http://schemas.microsoft.com/office/drawing/2014/main" id="{774B5D43-1B97-4623-824A-909B1816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4197"/>
            <a:ext cx="75247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Automated checks</a:t>
            </a:r>
          </a:p>
        </p:txBody>
      </p:sp>
      <p:sp>
        <p:nvSpPr>
          <p:cNvPr id="45" name="text-29">
            <a:extLst xmlns:a="http://schemas.openxmlformats.org/drawingml/2006/main">
              <a:ext uri="{FF2B5EF4-FFF2-40B4-BE49-F238E27FC236}">
                <a16:creationId xmlns:a16="http://schemas.microsoft.com/office/drawing/2014/main" id="{09880620-8974-4D6C-A1E1-55196676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24222"/>
            <a:ext cx="75247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46536D"/>
                </a:solidFill>
                <a:latin typeface="Manrope"/>
                <a:ea typeface="Manrope"/>
                <a:cs typeface="Manrope"/>
              </a:rPr>
              <a:t>Release evidence</a:t>
            </a:r>
          </a:p>
        </p:txBody>
      </p:sp>
      <p:sp>
        <p:nvSpPr>
          <p:cNvPr id="46" name="circle-16">
            <a:extLst xmlns:a="http://schemas.openxmlformats.org/drawingml/2006/main">
              <a:ext uri="{FF2B5EF4-FFF2-40B4-BE49-F238E27FC236}">
                <a16:creationId xmlns:a16="http://schemas.microsoft.com/office/drawing/2014/main" id="{03DEDA1E-9FFD-47D9-9456-7F8382C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4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47" name="text-30">
            <a:extLst xmlns:a="http://schemas.openxmlformats.org/drawingml/2006/main">
              <a:ext uri="{FF2B5EF4-FFF2-40B4-BE49-F238E27FC236}">
                <a16:creationId xmlns:a16="http://schemas.microsoft.com/office/drawing/2014/main" id="{2D33F41D-B6ED-4CC6-8DAC-9BD9D30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850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8" name="text-31">
            <a:extLst xmlns:a="http://schemas.openxmlformats.org/drawingml/2006/main">
              <a:ext uri="{FF2B5EF4-FFF2-40B4-BE49-F238E27FC236}">
                <a16:creationId xmlns:a16="http://schemas.microsoft.com/office/drawing/2014/main" id="{97CC07F2-7A6E-41B8-9710-827BFF6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1324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Governed portfolio rollout</a:t>
            </a:r>
          </a:p>
        </p:txBody>
      </p:sp>
      <p:sp>
        <p:nvSpPr>
          <p:cNvPr id="49" name="text-32">
            <a:extLst xmlns:a="http://schemas.openxmlformats.org/drawingml/2006/main">
              <a:ext uri="{FF2B5EF4-FFF2-40B4-BE49-F238E27FC236}">
                <a16:creationId xmlns:a16="http://schemas.microsoft.com/office/drawing/2014/main" id="{C0851CB8-AF57-4060-B340-DF147EE4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9595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Common workflows and approvals across ~280 teams, 40 programs</a:t>
            </a:r>
          </a:p>
        </p:txBody>
      </p:sp>
      <p:sp>
        <p:nvSpPr>
          <p:cNvPr id="50" name="rectangle-17">
            <a:extLst xmlns:a="http://schemas.openxmlformats.org/drawingml/2006/main">
              <a:ext uri="{FF2B5EF4-FFF2-40B4-BE49-F238E27FC236}">
                <a16:creationId xmlns:a16="http://schemas.microsoft.com/office/drawing/2014/main" id="{EC2E4855-6E17-49E4-A946-93B1A35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143250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9B430CB6-7BFD-4788-9B70-A1F7B380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2" name="line-19">
            <a:extLst xmlns:a="http://schemas.openxmlformats.org/drawingml/2006/main">
              <a:ext uri="{FF2B5EF4-FFF2-40B4-BE49-F238E27FC236}">
                <a16:creationId xmlns:a16="http://schemas.microsoft.com/office/drawing/2014/main" id="{88FECE7D-58C1-4445-927C-E146FB9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908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53" name="line-20">
            <a:extLst xmlns:a="http://schemas.openxmlformats.org/drawingml/2006/main">
              <a:ext uri="{FF2B5EF4-FFF2-40B4-BE49-F238E27FC236}">
                <a16:creationId xmlns:a16="http://schemas.microsoft.com/office/drawing/2014/main" id="{DBCB44E2-16D8-4ED3-8CC7-54C1AB8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338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54" name="text-33">
            <a:extLst xmlns:a="http://schemas.openxmlformats.org/drawingml/2006/main">
              <a:ext uri="{FF2B5EF4-FFF2-40B4-BE49-F238E27FC236}">
                <a16:creationId xmlns:a16="http://schemas.microsoft.com/office/drawing/2014/main" id="{AA242D6C-C00F-40E0-984F-60CAB1E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5747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PORTFOLIO DELIVERY</a:t>
            </a:r>
          </a:p>
        </p:txBody>
      </p:sp>
      <p:sp>
        <p:nvSpPr>
          <p:cNvPr id="55" name="text-34">
            <a:extLst xmlns:a="http://schemas.openxmlformats.org/drawingml/2006/main">
              <a:ext uri="{FF2B5EF4-FFF2-40B4-BE49-F238E27FC236}">
                <a16:creationId xmlns:a16="http://schemas.microsoft.com/office/drawing/2014/main" id="{C18B3E69-BEFA-418B-945F-2B9630B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28747"/>
            <a:ext cx="44291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rPr>
              <a:t>6 months before</a:t>
            </a:r>
          </a:p>
        </p:txBody>
      </p:sp>
      <p:sp>
        <p:nvSpPr>
          <p:cNvPr id="56" name="text-35">
            <a:extLst xmlns:a="http://schemas.openxmlformats.org/drawingml/2006/main">
              <a:ext uri="{FF2B5EF4-FFF2-40B4-BE49-F238E27FC236}">
                <a16:creationId xmlns:a16="http://schemas.microsoft.com/office/drawing/2014/main" id="{80903737-27BB-4471-A143-74AF2722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68777"/>
            <a:ext cx="4429125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2 months</a:t>
            </a:r>
          </a:p>
        </p:txBody>
      </p:sp>
      <p:sp>
        <p:nvSpPr>
          <p:cNvPr id="57" name="text-36">
            <a:extLst xmlns:a="http://schemas.openxmlformats.org/drawingml/2006/main">
              <a:ext uri="{FF2B5EF4-FFF2-40B4-BE49-F238E27FC236}">
                <a16:creationId xmlns:a16="http://schemas.microsoft.com/office/drawing/2014/main" id="{D80D5C46-F325-4586-8BC6-0C7C4CD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14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67% SHORTER</a:t>
            </a:r>
          </a:p>
        </p:txBody>
      </p:sp>
      <p:sp>
        <p:nvSpPr>
          <p:cNvPr id="58" name="text-37">
            <a:extLst xmlns:a="http://schemas.openxmlformats.org/drawingml/2006/main">
              <a:ext uri="{FF2B5EF4-FFF2-40B4-BE49-F238E27FC236}">
                <a16:creationId xmlns:a16="http://schemas.microsoft.com/office/drawing/2014/main" id="{074D3985-D7F8-49EC-AE20-1D0A65C5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5747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TEAM DELIVERY</a:t>
            </a:r>
          </a:p>
        </p:txBody>
      </p:sp>
      <p:sp>
        <p:nvSpPr>
          <p:cNvPr id="59" name="text-38">
            <a:extLst xmlns:a="http://schemas.openxmlformats.org/drawingml/2006/main">
              <a:ext uri="{FF2B5EF4-FFF2-40B4-BE49-F238E27FC236}">
                <a16:creationId xmlns:a16="http://schemas.microsoft.com/office/drawing/2014/main" id="{60D63178-F72C-4DE8-9997-88C26A5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28747"/>
            <a:ext cx="23812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A94A7"/>
                </a:solidFill>
                <a:latin typeface="Manrope"/>
                <a:ea typeface="Manrope"/>
                <a:cs typeface="Manrope"/>
              </a:rPr>
              <a:t>2 weeks before</a:t>
            </a:r>
          </a:p>
        </p:txBody>
      </p:sp>
      <p:sp>
        <p:nvSpPr>
          <p:cNvPr id="60" name="text-39">
            <a:extLst xmlns:a="http://schemas.openxmlformats.org/drawingml/2006/main">
              <a:ext uri="{FF2B5EF4-FFF2-40B4-BE49-F238E27FC236}">
                <a16:creationId xmlns:a16="http://schemas.microsoft.com/office/drawing/2014/main" id="{DD40E69D-3A16-4AFA-8F42-AD223070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68777"/>
            <a:ext cx="238125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 week</a:t>
            </a:r>
          </a:p>
        </p:txBody>
      </p:sp>
      <p:sp>
        <p:nvSpPr>
          <p:cNvPr id="61" name="text-40">
            <a:extLst xmlns:a="http://schemas.openxmlformats.org/drawingml/2006/main">
              <a:ext uri="{FF2B5EF4-FFF2-40B4-BE49-F238E27FC236}">
                <a16:creationId xmlns:a16="http://schemas.microsoft.com/office/drawing/2014/main" id="{B61FB4D8-D85C-4717-9446-AC5DF304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614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50% SHORTER</a:t>
            </a:r>
          </a:p>
        </p:txBody>
      </p:sp>
      <p:sp>
        <p:nvSpPr>
          <p:cNvPr id="62" name="text-41">
            <a:extLst xmlns:a="http://schemas.openxmlformats.org/drawingml/2006/main">
              <a:ext uri="{FF2B5EF4-FFF2-40B4-BE49-F238E27FC236}">
                <a16:creationId xmlns:a16="http://schemas.microsoft.com/office/drawing/2014/main" id="{CCE9541F-743E-4068-B8F2-7A4715DA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0052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ISSUE DIAGNOSIS</a:t>
            </a:r>
          </a:p>
        </p:txBody>
      </p:sp>
      <p:sp>
        <p:nvSpPr>
          <p:cNvPr id="63" name="text-42">
            <a:extLst xmlns:a="http://schemas.openxmlformats.org/drawingml/2006/main">
              <a:ext uri="{FF2B5EF4-FFF2-40B4-BE49-F238E27FC236}">
                <a16:creationId xmlns:a16="http://schemas.microsoft.com/office/drawing/2014/main" id="{33969254-6957-4415-8885-EDAD6B9A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83227"/>
            <a:ext cx="4429125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&lt;5 min</a:t>
            </a:r>
          </a:p>
        </p:txBody>
      </p:sp>
      <p:sp>
        <p:nvSpPr>
          <p:cNvPr id="64" name="text-43">
            <a:extLst xmlns:a="http://schemas.openxmlformats.org/drawingml/2006/main">
              <a:ext uri="{FF2B5EF4-FFF2-40B4-BE49-F238E27FC236}">
                <a16:creationId xmlns:a16="http://schemas.microsoft.com/office/drawing/2014/main" id="{EFEE9581-B89A-4C10-9EDF-2B77240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38903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FASTER INVESTIGATION</a:t>
            </a:r>
          </a:p>
        </p:txBody>
      </p:sp>
      <p:sp>
        <p:nvSpPr>
          <p:cNvPr id="65" name="text-44">
            <a:extLst xmlns:a="http://schemas.openxmlformats.org/drawingml/2006/main">
              <a:ext uri="{FF2B5EF4-FFF2-40B4-BE49-F238E27FC236}">
                <a16:creationId xmlns:a16="http://schemas.microsoft.com/office/drawing/2014/main" id="{55B7D4FF-FF73-44AF-9FB9-E6785089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0052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INCIDENT RECOVERY</a:t>
            </a:r>
          </a:p>
        </p:txBody>
      </p:sp>
      <p:sp>
        <p:nvSpPr>
          <p:cNvPr id="66" name="text-45">
            <a:extLst xmlns:a="http://schemas.openxmlformats.org/drawingml/2006/main">
              <a:ext uri="{FF2B5EF4-FFF2-40B4-BE49-F238E27FC236}">
                <a16:creationId xmlns:a16="http://schemas.microsoft.com/office/drawing/2014/main" id="{CE47200E-D7FA-4948-AAAD-91D5623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483227"/>
            <a:ext cx="238125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4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58%</a:t>
            </a:r>
          </a:p>
        </p:txBody>
      </p:sp>
      <p:sp>
        <p:nvSpPr>
          <p:cNvPr id="67" name="text-46">
            <a:extLst xmlns:a="http://schemas.openxmlformats.org/drawingml/2006/main">
              <a:ext uri="{FF2B5EF4-FFF2-40B4-BE49-F238E27FC236}">
                <a16:creationId xmlns:a16="http://schemas.microsoft.com/office/drawing/2014/main" id="{777EA79E-7B46-4737-8606-E58DACE6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938903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LOWER MTTR</a:t>
            </a:r>
          </a:p>
        </p:txBody>
      </p:sp>
      <p:sp>
        <p:nvSpPr>
          <p:cNvPr id="68" name="text-47">
            <a:extLst xmlns:a="http://schemas.openxmlformats.org/drawingml/2006/main">
              <a:ext uri="{FF2B5EF4-FFF2-40B4-BE49-F238E27FC236}">
                <a16:creationId xmlns:a16="http://schemas.microsoft.com/office/drawing/2014/main" id="{0A6D08E4-BF9E-4220-A2A7-AC999BC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5729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Quality protected as delivery accelerated</a:t>
            </a:r>
          </a:p>
        </p:txBody>
      </p:sp>
      <p:sp>
        <p:nvSpPr>
          <p:cNvPr id="69" name="text-48">
            <a:extLst xmlns:a="http://schemas.openxmlformats.org/drawingml/2006/main">
              <a:ext uri="{FF2B5EF4-FFF2-40B4-BE49-F238E27FC236}">
                <a16:creationId xmlns:a16="http://schemas.microsoft.com/office/drawing/2014/main" id="{F709D9F0-20F0-4CFA-9C67-EE18B394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95797"/>
            <a:ext cx="4762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Common checks, security controls, approval evidence</a:t>
            </a:r>
          </a:p>
        </p:txBody>
      </p:sp>
      <p:sp>
        <p:nvSpPr>
          <p:cNvPr id="70" name="text-49">
            <a:extLst xmlns:a="http://schemas.openxmlformats.org/drawingml/2006/main">
              <a:ext uri="{FF2B5EF4-FFF2-40B4-BE49-F238E27FC236}">
                <a16:creationId xmlns:a16="http://schemas.microsoft.com/office/drawing/2014/main" id="{3FA7FB3B-84F1-4A67-B242-BC9654A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PROOF OF ENTERPRISE SCALE</a:t>
            </a:r>
          </a:p>
        </p:txBody>
      </p:sp>
      <p:sp>
        <p:nvSpPr>
          <p:cNvPr id="71" name="rectangle-21">
            <a:extLst xmlns:a="http://schemas.openxmlformats.org/drawingml/2006/main">
              <a:ext uri="{FF2B5EF4-FFF2-40B4-BE49-F238E27FC236}">
                <a16:creationId xmlns:a16="http://schemas.microsoft.com/office/drawing/2014/main" id="{1E5CFA65-3BB2-4BE5-8CD8-D1ADACAF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rectangle-22">
            <a:extLst xmlns:a="http://schemas.openxmlformats.org/drawingml/2006/main">
              <a:ext uri="{FF2B5EF4-FFF2-40B4-BE49-F238E27FC236}">
                <a16:creationId xmlns:a16="http://schemas.microsoft.com/office/drawing/2014/main" id="{56BDB202-0232-4957-9419-1FA9863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3" name="line-23">
            <a:extLst xmlns:a="http://schemas.openxmlformats.org/drawingml/2006/main">
              <a:ext uri="{FF2B5EF4-FFF2-40B4-BE49-F238E27FC236}">
                <a16:creationId xmlns:a16="http://schemas.microsoft.com/office/drawing/2014/main" id="{433CD542-D992-4984-805E-F5074932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74" name="line-24">
            <a:extLst xmlns:a="http://schemas.openxmlformats.org/drawingml/2006/main">
              <a:ext uri="{FF2B5EF4-FFF2-40B4-BE49-F238E27FC236}">
                <a16:creationId xmlns:a16="http://schemas.microsoft.com/office/drawing/2014/main" id="{FB2D7986-3B0D-4C85-A2F7-940DAC85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75" name="line-25">
            <a:extLst xmlns:a="http://schemas.openxmlformats.org/drawingml/2006/main">
              <a:ext uri="{FF2B5EF4-FFF2-40B4-BE49-F238E27FC236}">
                <a16:creationId xmlns:a16="http://schemas.microsoft.com/office/drawing/2014/main" id="{92F9300F-9CAB-42F6-8716-001B09AF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76" name="text-50">
            <a:extLst xmlns:a="http://schemas.openxmlformats.org/drawingml/2006/main">
              <a:ext uri="{FF2B5EF4-FFF2-40B4-BE49-F238E27FC236}">
                <a16:creationId xmlns:a16="http://schemas.microsoft.com/office/drawing/2014/main" id="{986DB4BC-F4BD-44BD-B3EE-09467DB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33463"/>
            <a:ext cx="14001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~3,000</a:t>
            </a:r>
          </a:p>
        </p:txBody>
      </p:sp>
      <p:sp>
        <p:nvSpPr>
          <p:cNvPr id="77" name="text-51">
            <a:extLst xmlns:a="http://schemas.openxmlformats.org/drawingml/2006/main">
              <a:ext uri="{FF2B5EF4-FFF2-40B4-BE49-F238E27FC236}">
                <a16:creationId xmlns:a16="http://schemas.microsoft.com/office/drawing/2014/main" id="{EBED708B-E49B-4F0C-A2A1-DAE5012E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96556"/>
            <a:ext cx="1400175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ENABLED USERS</a:t>
            </a:r>
          </a:p>
        </p:txBody>
      </p:sp>
      <p:sp>
        <p:nvSpPr>
          <p:cNvPr id="78" name="text-52">
            <a:extLst xmlns:a="http://schemas.openxmlformats.org/drawingml/2006/main">
              <a:ext uri="{FF2B5EF4-FFF2-40B4-BE49-F238E27FC236}">
                <a16:creationId xmlns:a16="http://schemas.microsoft.com/office/drawing/2014/main" id="{C070D29C-CD98-4532-AAA8-6E95C0F6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133463"/>
            <a:ext cx="1052512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~280</a:t>
            </a:r>
          </a:p>
        </p:txBody>
      </p:sp>
      <p:sp>
        <p:nvSpPr>
          <p:cNvPr id="79" name="text-53">
            <a:extLst xmlns:a="http://schemas.openxmlformats.org/drawingml/2006/main">
              <a:ext uri="{FF2B5EF4-FFF2-40B4-BE49-F238E27FC236}">
                <a16:creationId xmlns:a16="http://schemas.microsoft.com/office/drawing/2014/main" id="{2D1C0A4A-C101-463D-9CE2-A54585A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96556"/>
            <a:ext cx="1052512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ENTERPRISE TEAMS</a:t>
            </a:r>
          </a:p>
        </p:txBody>
      </p:sp>
      <p:sp>
        <p:nvSpPr>
          <p:cNvPr id="80" name="text-54">
            <a:extLst xmlns:a="http://schemas.openxmlformats.org/drawingml/2006/main">
              <a:ext uri="{FF2B5EF4-FFF2-40B4-BE49-F238E27FC236}">
                <a16:creationId xmlns:a16="http://schemas.microsoft.com/office/drawing/2014/main" id="{9F7A53CE-D8A7-4C4B-9487-C5F1E5B2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133463"/>
            <a:ext cx="70485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40</a:t>
            </a:r>
          </a:p>
        </p:txBody>
      </p:sp>
      <p:sp>
        <p:nvSpPr>
          <p:cNvPr id="81" name="text-55">
            <a:extLst xmlns:a="http://schemas.openxmlformats.org/drawingml/2006/main">
              <a:ext uri="{FF2B5EF4-FFF2-40B4-BE49-F238E27FC236}">
                <a16:creationId xmlns:a16="http://schemas.microsoft.com/office/drawing/2014/main" id="{D62176CC-2512-4F3E-8B4C-FC80394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96556"/>
            <a:ext cx="70485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PROGRAMS IN SCOPE</a:t>
            </a:r>
          </a:p>
        </p:txBody>
      </p:sp>
      <p:sp>
        <p:nvSpPr>
          <p:cNvPr id="82" name="text-56">
            <a:extLst xmlns:a="http://schemas.openxmlformats.org/drawingml/2006/main">
              <a:ext uri="{FF2B5EF4-FFF2-40B4-BE49-F238E27FC236}">
                <a16:creationId xmlns:a16="http://schemas.microsoft.com/office/drawing/2014/main" id="{67846BC2-BEB1-4B30-9EB1-E31CF240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133463"/>
            <a:ext cx="3571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1B / month</a:t>
            </a:r>
          </a:p>
        </p:txBody>
      </p:sp>
      <p:sp>
        <p:nvSpPr>
          <p:cNvPr id="83" name="text-57">
            <a:extLst xmlns:a="http://schemas.openxmlformats.org/drawingml/2006/main">
              <a:ext uri="{FF2B5EF4-FFF2-40B4-BE49-F238E27FC236}">
                <a16:creationId xmlns:a16="http://schemas.microsoft.com/office/drawing/2014/main" id="{2FDAF3AC-A93B-400B-8908-2AE8410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496556"/>
            <a:ext cx="3571875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MODEL TOKENS UNDER GOVERNANCE</a:t>
            </a:r>
          </a:p>
        </p:txBody>
      </p:sp>
      <p:sp>
        <p:nvSpPr>
          <p:cNvPr id="84" name="text-58">
            <a:extLst xmlns:a="http://schemas.openxmlformats.org/drawingml/2006/main">
              <a:ext uri="{FF2B5EF4-FFF2-40B4-BE49-F238E27FC236}">
                <a16:creationId xmlns:a16="http://schemas.microsoft.com/office/drawing/2014/main" id="{FD618E9D-A14A-42B4-9AA1-CA38F0B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The enterprise turned a commercial AI product into a repeatable delivery system for ~280 teams</a:t>
            </a:r>
          </a:p>
        </p:txBody>
      </p:sp>
      <p:sp>
        <p:nvSpPr>
          <p:cNvPr id="85" name="text-59">
            <a:extLst xmlns:a="http://schemas.openxmlformats.org/drawingml/2006/main">
              <a:ext uri="{FF2B5EF4-FFF2-40B4-BE49-F238E27FC236}">
                <a16:creationId xmlns:a16="http://schemas.microsoft.com/office/drawing/2014/main" id="{CE3459D0-CA5B-4C0D-92C9-FF2B95F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944293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rectangle-1">
            <a:extLst xmlns:a="http://schemas.openxmlformats.org/drawingml/2006/main">
              <a:ext uri="{FF2B5EF4-FFF2-40B4-BE49-F238E27FC236}">
                <a16:creationId xmlns:a16="http://schemas.microsoft.com/office/drawing/2014/main" id="{8266A1E5-B4CE-4BC1-86CE-46B9279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E7732840-2DD3-42BE-B220-6DAE3D2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B982DA0-16AD-42F4-A106-5AFE2F01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A6029AA-83F8-4930-A03D-2C16412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Legal Technology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C2A9CBA-1462-4836-8708-799662C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AI-native engineering transformed eDiscovery delivery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E4A4FF8-4F3F-497E-A534-6E407B59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Hybrid human-and-agent teams automated high-volume legal work while preserving defensible control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E7ADA97-3FA2-4E5F-9406-126493A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9103617-E344-46B6-A2B6-BEEC05D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50294C3-346C-47AA-A134-17E9A79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C976C0B0-B027-47D3-A1D9-63DC4F21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AD8BDFBB-D70B-48C3-B36F-7166EE9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46e08b6214c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CEE8C665-9AF0-4578-96D9-0D1BEA0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44B84232-8934-4316-8FAA-D465E30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736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Manual review constrained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9CF3B4FE-785B-4EE7-80BE-C13213B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50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growth and consistency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7540399D-B677-4135-8F0D-E997AA2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FD778A8D-3791-4C56-AD97-77B5DB0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76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Discovery relied on manual interviews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8F7BC7CA-3922-45EF-8AA5-1D021D25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76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Data sources and custodians took time to identify</a:t>
            </a:r>
          </a:p>
        </p:txBody>
      </p:sp>
      <p:sp>
        <p:nvSpPr>
          <p:cNvPr id="19" name="circle-7">
            <a:extLst xmlns:a="http://schemas.openxmlformats.org/drawingml/2006/main">
              <a:ext uri="{FF2B5EF4-FFF2-40B4-BE49-F238E27FC236}">
                <a16:creationId xmlns:a16="http://schemas.microsoft.com/office/drawing/2014/main" id="{C50DEC7E-011D-4185-BDF4-BC62F1D4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26A6C8EE-2A88-4275-9261-4C4CF8F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15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Review happened page by page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C410A38D-AB77-436F-9327-4A8A158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5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Keyword review consumed specialist capacity</a:t>
            </a:r>
          </a:p>
        </p:txBody>
      </p:sp>
      <p:sp>
        <p:nvSpPr>
          <p:cNvPr id="22" name="circle-8">
            <a:extLst xmlns:a="http://schemas.openxmlformats.org/drawingml/2006/main">
              <a:ext uri="{FF2B5EF4-FFF2-40B4-BE49-F238E27FC236}">
                <a16:creationId xmlns:a16="http://schemas.microsoft.com/office/drawing/2014/main" id="{7C14B6C7-EE15-471B-9D07-720D49D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6F3A358D-78A9-402B-A29A-2644DC5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53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Redaction and production were manual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9D9867AC-3140-4F2E-86D5-5CC28B4A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54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Quality control limited throughput and scale</a:t>
            </a:r>
          </a:p>
        </p:txBody>
      </p:sp>
      <p:sp>
        <p:nvSpPr>
          <p:cNvPr id="25" name="line-9">
            <a:extLst xmlns:a="http://schemas.openxmlformats.org/drawingml/2006/main">
              <a:ext uri="{FF2B5EF4-FFF2-40B4-BE49-F238E27FC236}">
                <a16:creationId xmlns:a16="http://schemas.microsoft.com/office/drawing/2014/main" id="{1B93F40C-7B2A-4B79-83FA-ED9D01AD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6" name="circle-10">
            <a:extLst xmlns:a="http://schemas.openxmlformats.org/drawingml/2006/main">
              <a:ext uri="{FF2B5EF4-FFF2-40B4-BE49-F238E27FC236}">
                <a16:creationId xmlns:a16="http://schemas.microsoft.com/office/drawing/2014/main" id="{A3F30F78-E60A-4919-9107-81FE21D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7" name="text-16">
            <a:extLst xmlns:a="http://schemas.openxmlformats.org/drawingml/2006/main">
              <a:ext uri="{FF2B5EF4-FFF2-40B4-BE49-F238E27FC236}">
                <a16:creationId xmlns:a16="http://schemas.microsoft.com/office/drawing/2014/main" id="{EF0C998A-2DF4-4910-86CC-12972F0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75FD2638-E877-4730-BF92-1BCB082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Built an AI-native eDiscovery platform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BD837E32-8AF0-4D48-BD6A-339A2992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Productized discovery, review, redaction and case preparation</a:t>
            </a:r>
          </a:p>
        </p:txBody>
      </p:sp>
      <p:sp>
        <p:nvSpPr>
          <p:cNvPr id="30" name="circle-11">
            <a:extLst xmlns:a="http://schemas.openxmlformats.org/drawingml/2006/main">
              <a:ext uri="{FF2B5EF4-FFF2-40B4-BE49-F238E27FC236}">
                <a16:creationId xmlns:a16="http://schemas.microsoft.com/office/drawing/2014/main" id="{1F85CF18-D197-490B-B730-B0249FD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8627248A-13A2-47CC-AF89-41382774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44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9F70A2A8-02D3-41CA-9A7A-74F6D37E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91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Scaled hybrid delivery pods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42BEB06E-1281-4A79-8E0A-AF06F7BA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A 120-engineer organization combined specialist judgment with agents</a:t>
            </a:r>
          </a:p>
        </p:txBody>
      </p:sp>
      <p:sp>
        <p:nvSpPr>
          <p:cNvPr id="34" name="circle-12">
            <a:extLst xmlns:a="http://schemas.openxmlformats.org/drawingml/2006/main">
              <a:ext uri="{FF2B5EF4-FFF2-40B4-BE49-F238E27FC236}">
                <a16:creationId xmlns:a16="http://schemas.microsoft.com/office/drawing/2014/main" id="{8BFF0A06-8663-4155-8270-53D9C67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35" name="text-22">
            <a:extLst xmlns:a="http://schemas.openxmlformats.org/drawingml/2006/main">
              <a:ext uri="{FF2B5EF4-FFF2-40B4-BE49-F238E27FC236}">
                <a16:creationId xmlns:a16="http://schemas.microsoft.com/office/drawing/2014/main" id="{721FECBA-513B-44C4-B377-F6B28E03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50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18C97F01-B98A-4E01-96F2-69663DA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97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Automated review with exception handling</a:t>
            </a:r>
          </a:p>
        </p:txBody>
      </p:sp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72892E53-896F-449B-8B2C-7473E88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AI processed high-volume work while specialists reviewed exceptions</a:t>
            </a:r>
          </a:p>
        </p:txBody>
      </p:sp>
      <p:sp>
        <p:nvSpPr>
          <p:cNvPr id="38" name="line-13">
            <a:extLst xmlns:a="http://schemas.openxmlformats.org/drawingml/2006/main">
              <a:ext uri="{FF2B5EF4-FFF2-40B4-BE49-F238E27FC236}">
                <a16:creationId xmlns:a16="http://schemas.microsoft.com/office/drawing/2014/main" id="{DF263B5D-E201-4C37-ADC6-C5F331E6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67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EEA"/>
            </a:solidFill>
            <a:prstDash val="solid"/>
          </a:ln>
        </p:spPr>
      </p:sp>
      <p:sp>
        <p:nvSpPr>
          <p:cNvPr id="39" name="text-25">
            <a:extLst xmlns:a="http://schemas.openxmlformats.org/drawingml/2006/main">
              <a:ext uri="{FF2B5EF4-FFF2-40B4-BE49-F238E27FC236}">
                <a16:creationId xmlns:a16="http://schemas.microsoft.com/office/drawing/2014/main" id="{875CD3A7-48FB-4687-9A28-0A46085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20106"/>
            <a:ext cx="10172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CONTROLS MAINTAINED THROUGHOUT DELIVERY</a:t>
            </a:r>
          </a:p>
        </p:txBody>
      </p:sp>
      <p:sp>
        <p:nvSpPr>
          <p:cNvPr id="40" name="text-26">
            <a:extLst xmlns:a="http://schemas.openxmlformats.org/drawingml/2006/main">
              <a:ext uri="{FF2B5EF4-FFF2-40B4-BE49-F238E27FC236}">
                <a16:creationId xmlns:a16="http://schemas.microsoft.com/office/drawing/2014/main" id="{41A36E78-865D-4641-B777-9176DD5A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00522"/>
            <a:ext cx="101727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Human exceptions</a:t>
            </a:r>
          </a:p>
        </p:txBody>
      </p:sp>
      <p:sp>
        <p:nvSpPr>
          <p:cNvPr id="41" name="text-27">
            <a:extLst xmlns:a="http://schemas.openxmlformats.org/drawingml/2006/main">
              <a:ext uri="{FF2B5EF4-FFF2-40B4-BE49-F238E27FC236}">
                <a16:creationId xmlns:a16="http://schemas.microsoft.com/office/drawing/2014/main" id="{05FD888B-6CBA-43FE-A324-7734BAE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00522"/>
            <a:ext cx="85153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Audit evidence</a:t>
            </a:r>
          </a:p>
        </p:txBody>
      </p:sp>
      <p:sp>
        <p:nvSpPr>
          <p:cNvPr id="42" name="text-28">
            <a:extLst xmlns:a="http://schemas.openxmlformats.org/drawingml/2006/main">
              <a:ext uri="{FF2B5EF4-FFF2-40B4-BE49-F238E27FC236}">
                <a16:creationId xmlns:a16="http://schemas.microsoft.com/office/drawing/2014/main" id="{F0203EA8-9C22-43E7-91E5-AFD4C9D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0522"/>
            <a:ext cx="70770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Defensible output</a:t>
            </a:r>
          </a:p>
        </p:txBody>
      </p:sp>
      <p:sp>
        <p:nvSpPr>
          <p:cNvPr id="43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51C64FAD-4186-4F5C-B8E8-6791F00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143250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FA39927B-D3DB-4FA6-86EC-0C0D01F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5" name="line-16">
            <a:extLst xmlns:a="http://schemas.openxmlformats.org/drawingml/2006/main">
              <a:ext uri="{FF2B5EF4-FFF2-40B4-BE49-F238E27FC236}">
                <a16:creationId xmlns:a16="http://schemas.microsoft.com/office/drawing/2014/main" id="{FC091AB6-CCB0-487B-B544-11708C6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908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6" name="line-17">
            <a:extLst xmlns:a="http://schemas.openxmlformats.org/drawingml/2006/main">
              <a:ext uri="{FF2B5EF4-FFF2-40B4-BE49-F238E27FC236}">
                <a16:creationId xmlns:a16="http://schemas.microsoft.com/office/drawing/2014/main" id="{D1D5243D-7712-4164-9C4F-20FD99FE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338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7" name="text-29">
            <a:extLst xmlns:a="http://schemas.openxmlformats.org/drawingml/2006/main">
              <a:ext uri="{FF2B5EF4-FFF2-40B4-BE49-F238E27FC236}">
                <a16:creationId xmlns:a16="http://schemas.microsoft.com/office/drawing/2014/main" id="{08F7B74E-0146-4409-8CB4-496A46C4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57475"/>
            <a:ext cx="4429125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REVIEW COST</a:t>
            </a:r>
          </a:p>
        </p:txBody>
      </p:sp>
      <p:sp>
        <p:nvSpPr>
          <p:cNvPr id="48" name="text-30">
            <a:extLst xmlns:a="http://schemas.openxmlformats.org/drawingml/2006/main">
              <a:ext uri="{FF2B5EF4-FFF2-40B4-BE49-F238E27FC236}">
                <a16:creationId xmlns:a16="http://schemas.microsoft.com/office/drawing/2014/main" id="{D21CAC2D-4DAC-4CC5-8AA6-41272A96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48965"/>
            <a:ext cx="442912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40–60%</a:t>
            </a:r>
          </a:p>
        </p:txBody>
      </p:sp>
      <p:sp>
        <p:nvSpPr>
          <p:cNvPr id="49" name="text-31">
            <a:extLst xmlns:a="http://schemas.openxmlformats.org/drawingml/2006/main">
              <a:ext uri="{FF2B5EF4-FFF2-40B4-BE49-F238E27FC236}">
                <a16:creationId xmlns:a16="http://schemas.microsoft.com/office/drawing/2014/main" id="{FA9CDC07-A0DA-4F7D-BD89-CD4CEEBA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14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LOWER</a:t>
            </a:r>
          </a:p>
        </p:txBody>
      </p:sp>
      <p:sp>
        <p:nvSpPr>
          <p:cNvPr id="50" name="text-32">
            <a:extLst xmlns:a="http://schemas.openxmlformats.org/drawingml/2006/main">
              <a:ext uri="{FF2B5EF4-FFF2-40B4-BE49-F238E27FC236}">
                <a16:creationId xmlns:a16="http://schemas.microsoft.com/office/drawing/2014/main" id="{A991CA0A-2B14-410B-B087-4BFCD45C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57475"/>
            <a:ext cx="238125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3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REVIEW PRECISION</a:t>
            </a:r>
          </a:p>
        </p:txBody>
      </p:sp>
      <p:sp>
        <p:nvSpPr>
          <p:cNvPr id="51" name="text-33">
            <a:extLst xmlns:a="http://schemas.openxmlformats.org/drawingml/2006/main">
              <a:ext uri="{FF2B5EF4-FFF2-40B4-BE49-F238E27FC236}">
                <a16:creationId xmlns:a16="http://schemas.microsoft.com/office/drawing/2014/main" id="{B83DCAB0-18BE-4AFB-8607-FC599A7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48965"/>
            <a:ext cx="2381250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77%</a:t>
            </a:r>
          </a:p>
        </p:txBody>
      </p:sp>
      <p:sp>
        <p:nvSpPr>
          <p:cNvPr id="52" name="text-34">
            <a:extLst xmlns:a="http://schemas.openxmlformats.org/drawingml/2006/main">
              <a:ext uri="{FF2B5EF4-FFF2-40B4-BE49-F238E27FC236}">
                <a16:creationId xmlns:a16="http://schemas.microsoft.com/office/drawing/2014/main" id="{A424207A-06BA-4CBD-9166-24B60753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614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36% ABOVE FIRST PASS</a:t>
            </a:r>
          </a:p>
        </p:txBody>
      </p:sp>
      <p:sp>
        <p:nvSpPr>
          <p:cNvPr id="53" name="text-35">
            <a:extLst xmlns:a="http://schemas.openxmlformats.org/drawingml/2006/main">
              <a:ext uri="{FF2B5EF4-FFF2-40B4-BE49-F238E27FC236}">
                <a16:creationId xmlns:a16="http://schemas.microsoft.com/office/drawing/2014/main" id="{47C5236B-0323-462B-A06F-C87BADF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20337"/>
            <a:ext cx="4429125" cy="15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DOCUMENTS NEEDING</a:t>
            </a:r>
          </a:p>
        </p:txBody>
      </p:sp>
      <p:sp>
        <p:nvSpPr>
          <p:cNvPr id="54" name="text-36">
            <a:extLst xmlns:a="http://schemas.openxmlformats.org/drawingml/2006/main">
              <a:ext uri="{FF2B5EF4-FFF2-40B4-BE49-F238E27FC236}">
                <a16:creationId xmlns:a16="http://schemas.microsoft.com/office/drawing/2014/main" id="{5EF6AA64-8DD6-459F-BE82-8052863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82262"/>
            <a:ext cx="4429125" cy="15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HUMAN REVIEW</a:t>
            </a:r>
          </a:p>
        </p:txBody>
      </p:sp>
      <p:sp>
        <p:nvSpPr>
          <p:cNvPr id="55" name="text-37">
            <a:extLst xmlns:a="http://schemas.openxmlformats.org/drawingml/2006/main">
              <a:ext uri="{FF2B5EF4-FFF2-40B4-BE49-F238E27FC236}">
                <a16:creationId xmlns:a16="http://schemas.microsoft.com/office/drawing/2014/main" id="{88A7209C-D6A5-44F0-9C55-46728B5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2965"/>
            <a:ext cx="442912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~5%</a:t>
            </a:r>
          </a:p>
        </p:txBody>
      </p:sp>
      <p:sp>
        <p:nvSpPr>
          <p:cNvPr id="56" name="text-38">
            <a:extLst xmlns:a="http://schemas.openxmlformats.org/drawingml/2006/main">
              <a:ext uri="{FF2B5EF4-FFF2-40B4-BE49-F238E27FC236}">
                <a16:creationId xmlns:a16="http://schemas.microsoft.com/office/drawing/2014/main" id="{93C37B94-79F7-434F-95AD-7387BAD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8928"/>
            <a:ext cx="4429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DOWN FROM 25–30%</a:t>
            </a:r>
          </a:p>
        </p:txBody>
      </p:sp>
      <p:sp>
        <p:nvSpPr>
          <p:cNvPr id="57" name="text-39">
            <a:extLst xmlns:a="http://schemas.openxmlformats.org/drawingml/2006/main">
              <a:ext uri="{FF2B5EF4-FFF2-40B4-BE49-F238E27FC236}">
                <a16:creationId xmlns:a16="http://schemas.microsoft.com/office/drawing/2014/main" id="{128776BF-8B76-4BF6-BFEE-B5E68BB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20337"/>
            <a:ext cx="2381250" cy="15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DELIVERY</a:t>
            </a:r>
          </a:p>
        </p:txBody>
      </p:sp>
      <p:sp>
        <p:nvSpPr>
          <p:cNvPr id="58" name="text-40">
            <a:extLst xmlns:a="http://schemas.openxmlformats.org/drawingml/2006/main">
              <a:ext uri="{FF2B5EF4-FFF2-40B4-BE49-F238E27FC236}">
                <a16:creationId xmlns:a16="http://schemas.microsoft.com/office/drawing/2014/main" id="{5D73FF40-928F-4AD1-BA5D-700F372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382262"/>
            <a:ext cx="2381250" cy="15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788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ORGANIZATION</a:t>
            </a:r>
          </a:p>
        </p:txBody>
      </p:sp>
      <p:sp>
        <p:nvSpPr>
          <p:cNvPr id="59" name="text-41">
            <a:extLst xmlns:a="http://schemas.openxmlformats.org/drawingml/2006/main">
              <a:ext uri="{FF2B5EF4-FFF2-40B4-BE49-F238E27FC236}">
                <a16:creationId xmlns:a16="http://schemas.microsoft.com/office/drawing/2014/main" id="{C5CAAA84-5AEA-4B95-BAA8-49BA042B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672965"/>
            <a:ext cx="2381250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120</a:t>
            </a:r>
          </a:p>
        </p:txBody>
      </p:sp>
      <p:sp>
        <p:nvSpPr>
          <p:cNvPr id="60" name="text-42">
            <a:extLst xmlns:a="http://schemas.openxmlformats.org/drawingml/2006/main">
              <a:ext uri="{FF2B5EF4-FFF2-40B4-BE49-F238E27FC236}">
                <a16:creationId xmlns:a16="http://schemas.microsoft.com/office/drawing/2014/main" id="{345BA281-114F-46CF-9F2A-7380AB0D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38928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ENGINEERS IN HYBRID PODS</a:t>
            </a:r>
          </a:p>
        </p:txBody>
      </p:sp>
      <p:sp>
        <p:nvSpPr>
          <p:cNvPr id="61" name="text-43">
            <a:extLst xmlns:a="http://schemas.openxmlformats.org/drawingml/2006/main">
              <a:ext uri="{FF2B5EF4-FFF2-40B4-BE49-F238E27FC236}">
                <a16:creationId xmlns:a16="http://schemas.microsoft.com/office/drawing/2014/main" id="{DB7A1F0C-E800-499F-9277-180D5AF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END-TO-END EDISCOVERY SCOPE</a:t>
            </a:r>
          </a:p>
        </p:txBody>
      </p:sp>
      <p:sp>
        <p:nvSpPr>
          <p:cNvPr id="62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F44A9816-CD5E-487D-8943-08C79A91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7ED25A91-7ACD-4D3E-88AF-61E8B93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4" name="line-20">
            <a:extLst xmlns:a="http://schemas.openxmlformats.org/drawingml/2006/main">
              <a:ext uri="{FF2B5EF4-FFF2-40B4-BE49-F238E27FC236}">
                <a16:creationId xmlns:a16="http://schemas.microsoft.com/office/drawing/2014/main" id="{BE8DF00D-AA3D-4180-862B-8F22DD8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5" name="line-21">
            <a:extLst xmlns:a="http://schemas.openxmlformats.org/drawingml/2006/main">
              <a:ext uri="{FF2B5EF4-FFF2-40B4-BE49-F238E27FC236}">
                <a16:creationId xmlns:a16="http://schemas.microsoft.com/office/drawing/2014/main" id="{0333A435-7C58-4D98-AC39-66CD34B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6" name="line-22">
            <a:extLst xmlns:a="http://schemas.openxmlformats.org/drawingml/2006/main">
              <a:ext uri="{FF2B5EF4-FFF2-40B4-BE49-F238E27FC236}">
                <a16:creationId xmlns:a16="http://schemas.microsoft.com/office/drawing/2014/main" id="{DBB7B65C-B8A3-44E0-9D9F-423D54B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7" name="line-23">
            <a:extLst xmlns:a="http://schemas.openxmlformats.org/drawingml/2006/main">
              <a:ext uri="{FF2B5EF4-FFF2-40B4-BE49-F238E27FC236}">
                <a16:creationId xmlns:a16="http://schemas.microsoft.com/office/drawing/2014/main" id="{E293ED48-56F2-4626-B197-6D7AD1C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8" name="text-44">
            <a:extLst xmlns:a="http://schemas.openxmlformats.org/drawingml/2006/main">
              <a:ext uri="{FF2B5EF4-FFF2-40B4-BE49-F238E27FC236}">
                <a16:creationId xmlns:a16="http://schemas.microsoft.com/office/drawing/2014/main" id="{58CA1FA1-8F7A-4589-B020-FC62799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43191"/>
            <a:ext cx="140017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IDENTIFY</a:t>
            </a:r>
          </a:p>
        </p:txBody>
      </p:sp>
      <p:sp>
        <p:nvSpPr>
          <p:cNvPr id="69" name="text-45">
            <a:extLst xmlns:a="http://schemas.openxmlformats.org/drawingml/2006/main">
              <a:ext uri="{FF2B5EF4-FFF2-40B4-BE49-F238E27FC236}">
                <a16:creationId xmlns:a16="http://schemas.microsoft.com/office/drawing/2014/main" id="{8B61672B-33D1-40EE-B726-7786DBDB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01509"/>
            <a:ext cx="1400175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Data sources and legal holds</a:t>
            </a:r>
          </a:p>
        </p:txBody>
      </p:sp>
      <p:sp>
        <p:nvSpPr>
          <p:cNvPr id="70" name="text-46">
            <a:extLst xmlns:a="http://schemas.openxmlformats.org/drawingml/2006/main">
              <a:ext uri="{FF2B5EF4-FFF2-40B4-BE49-F238E27FC236}">
                <a16:creationId xmlns:a16="http://schemas.microsoft.com/office/drawing/2014/main" id="{A9F3AE74-A79C-4ECF-A08D-6F7E83B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243191"/>
            <a:ext cx="112204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COLLECT</a:t>
            </a:r>
          </a:p>
        </p:txBody>
      </p:sp>
      <p:sp>
        <p:nvSpPr>
          <p:cNvPr id="71" name="text-47">
            <a:extLst xmlns:a="http://schemas.openxmlformats.org/drawingml/2006/main">
              <a:ext uri="{FF2B5EF4-FFF2-40B4-BE49-F238E27FC236}">
                <a16:creationId xmlns:a16="http://schemas.microsoft.com/office/drawing/2014/main" id="{3B3C22F1-6F2C-4B10-80FD-BC82888D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501509"/>
            <a:ext cx="1122045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Custody and collection planning</a:t>
            </a:r>
          </a:p>
        </p:txBody>
      </p:sp>
      <p:sp>
        <p:nvSpPr>
          <p:cNvPr id="72" name="text-48">
            <a:extLst xmlns:a="http://schemas.openxmlformats.org/drawingml/2006/main">
              <a:ext uri="{FF2B5EF4-FFF2-40B4-BE49-F238E27FC236}">
                <a16:creationId xmlns:a16="http://schemas.microsoft.com/office/drawing/2014/main" id="{C056A3E2-7ED6-478E-9966-CA26EFC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43191"/>
            <a:ext cx="84391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PROCESS</a:t>
            </a:r>
          </a:p>
        </p:txBody>
      </p:sp>
      <p:sp>
        <p:nvSpPr>
          <p:cNvPr id="73" name="text-49">
            <a:extLst xmlns:a="http://schemas.openxmlformats.org/drawingml/2006/main">
              <a:ext uri="{FF2B5EF4-FFF2-40B4-BE49-F238E27FC236}">
                <a16:creationId xmlns:a16="http://schemas.microsoft.com/office/drawing/2014/main" id="{6A5A0E3C-8FA7-4815-AAB3-849544D1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501509"/>
            <a:ext cx="843915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De-duplication and enrichment</a:t>
            </a:r>
          </a:p>
        </p:txBody>
      </p:sp>
      <p:sp>
        <p:nvSpPr>
          <p:cNvPr id="74" name="text-50">
            <a:extLst xmlns:a="http://schemas.openxmlformats.org/drawingml/2006/main">
              <a:ext uri="{FF2B5EF4-FFF2-40B4-BE49-F238E27FC236}">
                <a16:creationId xmlns:a16="http://schemas.microsoft.com/office/drawing/2014/main" id="{9A35F8E5-A59E-4E24-909D-2D0470A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243191"/>
            <a:ext cx="56578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REVIEW</a:t>
            </a:r>
          </a:p>
        </p:txBody>
      </p:sp>
      <p:sp>
        <p:nvSpPr>
          <p:cNvPr id="75" name="text-51">
            <a:extLst xmlns:a="http://schemas.openxmlformats.org/drawingml/2006/main">
              <a:ext uri="{FF2B5EF4-FFF2-40B4-BE49-F238E27FC236}">
                <a16:creationId xmlns:a16="http://schemas.microsoft.com/office/drawing/2014/main" id="{E64A882F-E862-49A3-9E5B-D9DFA42D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01509"/>
            <a:ext cx="565785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Relevance and privilege</a:t>
            </a:r>
          </a:p>
        </p:txBody>
      </p:sp>
      <p:sp>
        <p:nvSpPr>
          <p:cNvPr id="76" name="text-52">
            <a:extLst xmlns:a="http://schemas.openxmlformats.org/drawingml/2006/main">
              <a:ext uri="{FF2B5EF4-FFF2-40B4-BE49-F238E27FC236}">
                <a16:creationId xmlns:a16="http://schemas.microsoft.com/office/drawing/2014/main" id="{4A840934-0837-43FC-9126-9BB09E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243191"/>
            <a:ext cx="28765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PRODUCE</a:t>
            </a:r>
          </a:p>
        </p:txBody>
      </p:sp>
      <p:sp>
        <p:nvSpPr>
          <p:cNvPr id="77" name="text-53">
            <a:extLst xmlns:a="http://schemas.openxmlformats.org/drawingml/2006/main">
              <a:ext uri="{FF2B5EF4-FFF2-40B4-BE49-F238E27FC236}">
                <a16:creationId xmlns:a16="http://schemas.microsoft.com/office/drawing/2014/main" id="{405338D4-103D-4DE0-99F2-35EF0AD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01509"/>
            <a:ext cx="287655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6B768B"/>
                </a:solidFill>
                <a:latin typeface="Manrope"/>
                <a:ea typeface="Manrope"/>
                <a:cs typeface="Manrope"/>
              </a:rPr>
              <a:t>Redaction and QC sampling</a:t>
            </a:r>
          </a:p>
        </p:txBody>
      </p:sp>
      <p:sp>
        <p:nvSpPr>
          <p:cNvPr id="78" name="text-54">
            <a:extLst xmlns:a="http://schemas.openxmlformats.org/drawingml/2006/main">
              <a:ext uri="{FF2B5EF4-FFF2-40B4-BE49-F238E27FC236}">
                <a16:creationId xmlns:a16="http://schemas.microsoft.com/office/drawing/2014/main" id="{D6D12B0D-D968-4FFE-98A4-D6345B6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The platform converted specialist effort into a scalable, defensible legal workflow</a:t>
            </a:r>
          </a:p>
        </p:txBody>
      </p:sp>
      <p:sp>
        <p:nvSpPr>
          <p:cNvPr id="79" name="text-55">
            <a:extLst xmlns:a="http://schemas.openxmlformats.org/drawingml/2006/main">
              <a:ext uri="{FF2B5EF4-FFF2-40B4-BE49-F238E27FC236}">
                <a16:creationId xmlns:a16="http://schemas.microsoft.com/office/drawing/2014/main" id="{028C78DA-4E28-4416-8235-1C711BB8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1004600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rectangle-1">
            <a:extLst xmlns:a="http://schemas.openxmlformats.org/drawingml/2006/main">
              <a:ext uri="{FF2B5EF4-FFF2-40B4-BE49-F238E27FC236}">
                <a16:creationId xmlns:a16="http://schemas.microsoft.com/office/drawing/2014/main" id="{3DF9EDE5-DA2F-48AB-BCA4-33DDFBA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00000">
                <a:srgbClr val="F1F5FA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2" name="rectangle-2">
            <a:extLst xmlns:a="http://schemas.openxmlformats.org/drawingml/2006/main">
              <a:ext uri="{FF2B5EF4-FFF2-40B4-BE49-F238E27FC236}">
                <a16:creationId xmlns:a16="http://schemas.microsoft.com/office/drawing/2014/main" id="{5DB50D48-E829-4C93-98DA-9938E0F4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A1871B7-A9C4-4232-BCE2-3C7819D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55617A"/>
                </a:solidFill>
                <a:latin typeface="Manrope"/>
                <a:ea typeface="Manrope"/>
                <a:cs typeface="Manrope"/>
              </a:rPr>
              <a:t>AI SDLC CASE STUDY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93C2F90-7D3A-4B09-8964-FD9A3E7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354"/>
            <a:ext cx="14478000" cy="60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75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Case Study - Insurance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C2F5D18-A2A7-4C95-8D5F-702A9A7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5187"/>
            <a:ext cx="144780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34415D"/>
                </a:solidFill>
                <a:latin typeface="Manrope"/>
                <a:ea typeface="Manrope"/>
                <a:cs typeface="Manrope"/>
              </a:rPr>
              <a:t>Faster policy servicing, from code to customer answer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C46C0D6-3D6C-4834-A890-29BBAF2E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8092"/>
            <a:ext cx="14478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626D83"/>
                </a:solidFill>
                <a:latin typeface="Manrope"/>
                <a:ea typeface="Manrope"/>
                <a:cs typeface="Manrope"/>
              </a:rPr>
              <a:t>AI-assisted engineering and trusted policy knowledge connected delivery speed to service quality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2E4D536-EA59-4176-A894-A3AC66AE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25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BURDEN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E8E480E-5B8A-4CA0-9603-315E4D1B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2541"/>
            <a:ext cx="108108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INTERVENTION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AFD1FF4-3B16-4D09-BFE0-772B9D0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2541"/>
            <a:ext cx="4762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THE BENEFIT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45E490AE-D59A-41D5-9A87-9465A4A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2918F792-DF84-465F-A4A9-8123C95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E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65128f9434a30"/>
          <a:srcRect xmlns:a="http://schemas.openxmlformats.org/drawingml/2006/main" l="618" t="0" r="6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</p:spPr>
      </p:pic>
      <p:sp>
        <p:nvSpPr>
          <p:cNvPr id="13" name="rectangle-5">
            <a:extLst xmlns:a="http://schemas.openxmlformats.org/drawingml/2006/main">
              <a:ext uri="{FF2B5EF4-FFF2-40B4-BE49-F238E27FC236}">
                <a16:creationId xmlns:a16="http://schemas.microsoft.com/office/drawing/2014/main" id="{36659792-3B9F-402F-AF27-679E419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76550" cy="16383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7DB"/>
            </a:solidFill>
            <a:prstDash val="solid"/>
          </a:ln>
        </p:spPr>
      </p:sp>
      <p:sp>
        <p:nvSpPr>
          <p:cNvPr id="14" name="text-8">
            <a:extLst xmlns:a="http://schemas.openxmlformats.org/drawingml/2006/main">
              <a:ext uri="{FF2B5EF4-FFF2-40B4-BE49-F238E27FC236}">
                <a16:creationId xmlns:a16="http://schemas.microsoft.com/office/drawing/2014/main" id="{8947CD59-232F-45C5-BEDD-6F77CD0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736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Policy work was hard to</a:t>
            </a:r>
          </a:p>
        </p:txBody>
      </p:sp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97A6D222-922C-4C39-8DB0-D0EBF4D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5018"/>
            <a:ext cx="1447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52258"/>
                </a:solidFill>
                <a:latin typeface="Manrope"/>
                <a:ea typeface="Manrope"/>
                <a:cs typeface="Manrope"/>
              </a:rPr>
              <a:t>change and hard to answer</a:t>
            </a:r>
          </a:p>
        </p:txBody>
      </p:sp>
      <p:sp>
        <p:nvSpPr>
          <p:cNvPr id="16" name="circle-6">
            <a:extLst xmlns:a="http://schemas.openxmlformats.org/drawingml/2006/main">
              <a:ext uri="{FF2B5EF4-FFF2-40B4-BE49-F238E27FC236}">
                <a16:creationId xmlns:a16="http://schemas.microsoft.com/office/drawing/2014/main" id="{8F53C244-F2C5-4CBE-816A-BA5A90F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648C497F-4509-467B-B955-8AB8B7E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76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Rules were scattered across systems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4FCD6FE4-90BD-457D-ACD0-A64EF02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766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Teams reconstructed logic before improving service</a:t>
            </a:r>
          </a:p>
        </p:txBody>
      </p:sp>
      <p:sp>
        <p:nvSpPr>
          <p:cNvPr id="19" name="circle-7">
            <a:extLst xmlns:a="http://schemas.openxmlformats.org/drawingml/2006/main">
              <a:ext uri="{FF2B5EF4-FFF2-40B4-BE49-F238E27FC236}">
                <a16:creationId xmlns:a16="http://schemas.microsoft.com/office/drawing/2014/main" id="{5C198129-7755-424F-9DB0-77C6E89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55F24D19-AE2B-4CD4-8E05-0D7631C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15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Routine questions needed people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A7F830DD-1ED6-44FF-B318-C499EBE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54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Manual handling slowed policy-query resolution</a:t>
            </a:r>
          </a:p>
        </p:txBody>
      </p:sp>
      <p:sp>
        <p:nvSpPr>
          <p:cNvPr id="22" name="circle-8">
            <a:extLst xmlns:a="http://schemas.openxmlformats.org/drawingml/2006/main">
              <a:ext uri="{FF2B5EF4-FFF2-40B4-BE49-F238E27FC236}">
                <a16:creationId xmlns:a16="http://schemas.microsoft.com/office/drawing/2014/main" id="{9DB49FC9-3916-4D25-A760-3C11A65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819B4B50-3B75-4C95-AD41-90D23EA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5391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4314E"/>
                </a:solidFill>
                <a:latin typeface="Manrope"/>
                <a:ea typeface="Manrope"/>
                <a:cs typeface="Manrope"/>
              </a:rPr>
              <a:t>Advisor administration had handoffs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CA7C3365-6A91-4812-BEF4-50AB158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5416"/>
            <a:ext cx="14230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defRPr>
            </a:pPr>
            <a:r>
              <a:rPr sz="1050" b="0" i="0">
                <a:solidFill>
                  <a:srgbClr val="56627A"/>
                </a:solidFill>
                <a:latin typeface="Manrope"/>
                <a:ea typeface="Manrope"/>
                <a:cs typeface="Manrope"/>
              </a:rPr>
              <a:t>Registration work competed for delivery capacity</a:t>
            </a:r>
          </a:p>
        </p:txBody>
      </p:sp>
      <p:sp>
        <p:nvSpPr>
          <p:cNvPr id="25" name="line-9">
            <a:extLst xmlns:a="http://schemas.openxmlformats.org/drawingml/2006/main">
              <a:ext uri="{FF2B5EF4-FFF2-40B4-BE49-F238E27FC236}">
                <a16:creationId xmlns:a16="http://schemas.microsoft.com/office/drawing/2014/main" id="{5E71DA0B-CA2E-4ABF-80C6-D18B243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E2"/>
            </a:solidFill>
            <a:prstDash val="solid"/>
          </a:ln>
        </p:spPr>
      </p:sp>
      <p:sp>
        <p:nvSpPr>
          <p:cNvPr id="26" name="circle-10">
            <a:extLst xmlns:a="http://schemas.openxmlformats.org/drawingml/2006/main">
              <a:ext uri="{FF2B5EF4-FFF2-40B4-BE49-F238E27FC236}">
                <a16:creationId xmlns:a16="http://schemas.microsoft.com/office/drawing/2014/main" id="{0D3BA405-E4E3-4529-AF34-D0AFB0DA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27" name="text-16">
            <a:extLst xmlns:a="http://schemas.openxmlformats.org/drawingml/2006/main">
              <a:ext uri="{FF2B5EF4-FFF2-40B4-BE49-F238E27FC236}">
                <a16:creationId xmlns:a16="http://schemas.microsoft.com/office/drawing/2014/main" id="{B265DCA8-62BA-48A6-BA13-B35C46F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38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8" name="text-17">
            <a:extLst xmlns:a="http://schemas.openxmlformats.org/drawingml/2006/main">
              <a:ext uri="{FF2B5EF4-FFF2-40B4-BE49-F238E27FC236}">
                <a16:creationId xmlns:a16="http://schemas.microsoft.com/office/drawing/2014/main" id="{42423EAD-FB7F-42A4-8316-5DA927A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85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Rebuilt the policy-servicing foundation</a:t>
            </a:r>
          </a:p>
        </p:txBody>
      </p:sp>
      <p:sp>
        <p:nvSpPr>
          <p:cNvPr id="29" name="text-18">
            <a:extLst xmlns:a="http://schemas.openxmlformats.org/drawingml/2006/main">
              <a:ext uri="{FF2B5EF4-FFF2-40B4-BE49-F238E27FC236}">
                <a16:creationId xmlns:a16="http://schemas.microsoft.com/office/drawing/2014/main" id="{94E60711-9547-47B7-BDE3-EE000943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AI-assisted engineering clarified workflows and sped up change</a:t>
            </a:r>
          </a:p>
        </p:txBody>
      </p:sp>
      <p:sp>
        <p:nvSpPr>
          <p:cNvPr id="30" name="circle-11">
            <a:extLst xmlns:a="http://schemas.openxmlformats.org/drawingml/2006/main">
              <a:ext uri="{FF2B5EF4-FFF2-40B4-BE49-F238E27FC236}">
                <a16:creationId xmlns:a16="http://schemas.microsoft.com/office/drawing/2014/main" id="{445384C7-F462-404E-940B-50137A6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0">
            <a:noFill/>
          </a:ln>
        </p:spPr>
      </p:sp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5F860723-A2BB-4B7D-B2DB-8B12AE49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44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2" name="text-20">
            <a:extLst xmlns:a="http://schemas.openxmlformats.org/drawingml/2006/main">
              <a:ext uri="{FF2B5EF4-FFF2-40B4-BE49-F238E27FC236}">
                <a16:creationId xmlns:a16="http://schemas.microsoft.com/office/drawing/2014/main" id="{F2BFEF8E-900B-4873-8E6C-EB678550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91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Made approved policy knowledge usable</a:t>
            </a:r>
          </a:p>
        </p:txBody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EC87E23D-6B19-4DB2-B4BB-25EB1B1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A knowledge assistant supported consistent customer answers</a:t>
            </a:r>
          </a:p>
        </p:txBody>
      </p:sp>
      <p:sp>
        <p:nvSpPr>
          <p:cNvPr id="34" name="circle-12">
            <a:extLst xmlns:a="http://schemas.openxmlformats.org/drawingml/2006/main">
              <a:ext uri="{FF2B5EF4-FFF2-40B4-BE49-F238E27FC236}">
                <a16:creationId xmlns:a16="http://schemas.microsoft.com/office/drawing/2014/main" id="{D9B1EB41-7D06-4D8D-8056-CA645841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A4"/>
          </a:solidFill>
          <a:ln xmlns:a="http://schemas.openxmlformats.org/drawingml/2006/main" w="0">
            <a:noFill/>
          </a:ln>
        </p:spPr>
      </p:sp>
      <p:sp>
        <p:nvSpPr>
          <p:cNvPr id="35" name="text-22">
            <a:extLst xmlns:a="http://schemas.openxmlformats.org/drawingml/2006/main">
              <a:ext uri="{FF2B5EF4-FFF2-40B4-BE49-F238E27FC236}">
                <a16:creationId xmlns:a16="http://schemas.microsoft.com/office/drawing/2014/main" id="{0887FFAD-7C52-4B97-A291-A8DB9E4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5053"/>
            <a:ext cx="762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82E76BF8-DF62-404C-8558-672B914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9798"/>
            <a:ext cx="101727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D2947"/>
                </a:solidFill>
                <a:latin typeface="Manrope"/>
                <a:ea typeface="Manrope"/>
                <a:cs typeface="Manrope"/>
              </a:rPr>
              <a:t>Automated advisor administration</a:t>
            </a:r>
          </a:p>
        </p:txBody>
      </p:sp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A75C7801-D268-4E5C-9B79-119BB7AE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10172700" cy="184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defRPr>
            </a:pPr>
            <a:r>
              <a:rPr sz="938" b="0" i="0">
                <a:solidFill>
                  <a:srgbClr val="69758C"/>
                </a:solidFill>
                <a:latin typeface="Manrope"/>
                <a:ea typeface="Manrope"/>
                <a:cs typeface="Manrope"/>
              </a:rPr>
              <a:t>Registration workflows moved from manual steps to repeatable flow</a:t>
            </a:r>
          </a:p>
        </p:txBody>
      </p:sp>
      <p:sp>
        <p:nvSpPr>
          <p:cNvPr id="38" name="line-13">
            <a:extLst xmlns:a="http://schemas.openxmlformats.org/drawingml/2006/main">
              <a:ext uri="{FF2B5EF4-FFF2-40B4-BE49-F238E27FC236}">
                <a16:creationId xmlns:a16="http://schemas.microsoft.com/office/drawing/2014/main" id="{76593A05-A32C-4405-A8C7-E020F6B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67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EEA"/>
            </a:solidFill>
            <a:prstDash val="solid"/>
          </a:ln>
        </p:spPr>
      </p:sp>
      <p:sp>
        <p:nvSpPr>
          <p:cNvPr id="39" name="text-25">
            <a:extLst xmlns:a="http://schemas.openxmlformats.org/drawingml/2006/main">
              <a:ext uri="{FF2B5EF4-FFF2-40B4-BE49-F238E27FC236}">
                <a16:creationId xmlns:a16="http://schemas.microsoft.com/office/drawing/2014/main" id="{84EF064A-3148-496E-ACC9-FB2E655D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20106"/>
            <a:ext cx="101727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defRPr>
            </a:pPr>
            <a:r>
              <a:rPr sz="863" b="1" i="0">
                <a:solidFill>
                  <a:srgbClr val="68748C"/>
                </a:solidFill>
                <a:latin typeface="Manrope"/>
                <a:ea typeface="Manrope"/>
                <a:cs typeface="Manrope"/>
              </a:rPr>
              <a:t>SERVICE QUALITY HELD IN THE FLOW</a:t>
            </a:r>
          </a:p>
        </p:txBody>
      </p:sp>
      <p:sp>
        <p:nvSpPr>
          <p:cNvPr id="40" name="text-26">
            <a:extLst xmlns:a="http://schemas.openxmlformats.org/drawingml/2006/main">
              <a:ext uri="{FF2B5EF4-FFF2-40B4-BE49-F238E27FC236}">
                <a16:creationId xmlns:a16="http://schemas.microsoft.com/office/drawing/2014/main" id="{A18C4776-C1C0-4146-9CBD-0BEF2B75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00522"/>
            <a:ext cx="101727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Policy grounding</a:t>
            </a:r>
          </a:p>
        </p:txBody>
      </p:sp>
      <p:sp>
        <p:nvSpPr>
          <p:cNvPr id="41" name="text-27">
            <a:extLst xmlns:a="http://schemas.openxmlformats.org/drawingml/2006/main">
              <a:ext uri="{FF2B5EF4-FFF2-40B4-BE49-F238E27FC236}">
                <a16:creationId xmlns:a16="http://schemas.microsoft.com/office/drawing/2014/main" id="{0F70845B-E45F-4E2D-A92C-8CFD78D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00522"/>
            <a:ext cx="84391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Human escalation</a:t>
            </a:r>
          </a:p>
        </p:txBody>
      </p:sp>
      <p:sp>
        <p:nvSpPr>
          <p:cNvPr id="42" name="text-28">
            <a:extLst xmlns:a="http://schemas.openxmlformats.org/drawingml/2006/main">
              <a:ext uri="{FF2B5EF4-FFF2-40B4-BE49-F238E27FC236}">
                <a16:creationId xmlns:a16="http://schemas.microsoft.com/office/drawing/2014/main" id="{F72C26EF-088C-4B3B-9C3D-94C1AEF4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0522"/>
            <a:ext cx="68008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273451"/>
                </a:solidFill>
                <a:latin typeface="Manrope"/>
                <a:ea typeface="Manrope"/>
                <a:cs typeface="Manrope"/>
              </a:rPr>
              <a:t>Release checks</a:t>
            </a:r>
          </a:p>
        </p:txBody>
      </p:sp>
      <p:sp>
        <p:nvSpPr>
          <p:cNvPr id="43" name="rectangle-14">
            <a:extLst xmlns:a="http://schemas.openxmlformats.org/drawingml/2006/main">
              <a:ext uri="{FF2B5EF4-FFF2-40B4-BE49-F238E27FC236}">
                <a16:creationId xmlns:a16="http://schemas.microsoft.com/office/drawing/2014/main" id="{3D974A93-C061-4B68-A06D-CBC6262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4191000" cy="3276600"/>
          </a:xfrm>
          <a:prstGeom xmlns:a="http://schemas.openxmlformats.org/drawingml/2006/main" prst="roundRect">
            <a:avLst>
              <a:gd name="adj" fmla="val 5233"/>
            </a:avLst>
          </a:prstGeom>
          <a:gradFill xmlns:a="http://schemas.openxmlformats.org/drawingml/2006/main">
            <a:gsLst>
              <a:gs pos="0">
                <a:srgbClr val="F7FAFF"/>
              </a:gs>
              <a:gs pos="100000">
                <a:srgbClr val="ECF7FA"/>
              </a:gs>
            </a:gsLst>
            <a:lin ang="2700000"/>
          </a:gradFill>
          <a:ln xmlns:a="http://schemas.openxmlformats.org/drawingml/2006/main" w="11430">
            <a:solidFill>
              <a:srgbClr val="D7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rectangle-15">
            <a:extLst xmlns:a="http://schemas.openxmlformats.org/drawingml/2006/main">
              <a:ext uri="{FF2B5EF4-FFF2-40B4-BE49-F238E27FC236}">
                <a16:creationId xmlns:a16="http://schemas.microsoft.com/office/drawing/2014/main" id="{9C2339D6-2C45-4E4C-AB01-5BE7EB7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6675" cy="3276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5" name="line-16">
            <a:extLst xmlns:a="http://schemas.openxmlformats.org/drawingml/2006/main">
              <a:ext uri="{FF2B5EF4-FFF2-40B4-BE49-F238E27FC236}">
                <a16:creationId xmlns:a16="http://schemas.microsoft.com/office/drawing/2014/main" id="{6E040954-32CE-487D-B951-A8FAAD1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0"/>
            <a:ext cx="3705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6" name="line-17">
            <a:extLst xmlns:a="http://schemas.openxmlformats.org/drawingml/2006/main">
              <a:ext uri="{FF2B5EF4-FFF2-40B4-BE49-F238E27FC236}">
                <a16:creationId xmlns:a16="http://schemas.microsoft.com/office/drawing/2014/main" id="{A53D0439-5BB0-4F2C-B9D0-057023D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76750"/>
            <a:ext cx="3705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8E0EC"/>
            </a:solidFill>
            <a:prstDash val="solid"/>
          </a:ln>
        </p:spPr>
      </p:sp>
      <p:sp>
        <p:nvSpPr>
          <p:cNvPr id="47" name="text-29">
            <a:extLst xmlns:a="http://schemas.openxmlformats.org/drawingml/2006/main">
              <a:ext uri="{FF2B5EF4-FFF2-40B4-BE49-F238E27FC236}">
                <a16:creationId xmlns:a16="http://schemas.microsoft.com/office/drawing/2014/main" id="{67A56E83-7115-450A-8E15-E13C86AE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128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90%</a:t>
            </a:r>
          </a:p>
        </p:txBody>
      </p:sp>
      <p:sp>
        <p:nvSpPr>
          <p:cNvPr id="48" name="text-30">
            <a:extLst xmlns:a="http://schemas.openxmlformats.org/drawingml/2006/main">
              <a:ext uri="{FF2B5EF4-FFF2-40B4-BE49-F238E27FC236}">
                <a16:creationId xmlns:a16="http://schemas.microsoft.com/office/drawing/2014/main" id="{A6F3DAE3-AFF6-4369-994A-3D569EA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71957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POLICY SERVICING</a:t>
            </a:r>
          </a:p>
        </p:txBody>
      </p:sp>
      <p:sp>
        <p:nvSpPr>
          <p:cNvPr id="49" name="text-31">
            <a:extLst xmlns:a="http://schemas.openxmlformats.org/drawingml/2006/main">
              <a:ext uri="{FF2B5EF4-FFF2-40B4-BE49-F238E27FC236}">
                <a16:creationId xmlns:a16="http://schemas.microsoft.com/office/drawing/2014/main" id="{14B87256-F95A-4A61-8977-A42290C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4817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BETTER QUERY RESOLUTION</a:t>
            </a:r>
          </a:p>
        </p:txBody>
      </p:sp>
      <p:sp>
        <p:nvSpPr>
          <p:cNvPr id="50" name="text-32">
            <a:extLst xmlns:a="http://schemas.openxmlformats.org/drawingml/2006/main">
              <a:ext uri="{FF2B5EF4-FFF2-40B4-BE49-F238E27FC236}">
                <a16:creationId xmlns:a16="http://schemas.microsoft.com/office/drawing/2014/main" id="{6374EFD2-9FA5-4939-8A19-A6D7C0A4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903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50%</a:t>
            </a:r>
          </a:p>
        </p:txBody>
      </p:sp>
      <p:sp>
        <p:nvSpPr>
          <p:cNvPr id="51" name="text-33">
            <a:extLst xmlns:a="http://schemas.openxmlformats.org/drawingml/2006/main">
              <a:ext uri="{FF2B5EF4-FFF2-40B4-BE49-F238E27FC236}">
                <a16:creationId xmlns:a16="http://schemas.microsoft.com/office/drawing/2014/main" id="{34810334-AA80-4C48-9E06-8FA665B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76732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CUSTOMER SERVICE</a:t>
            </a:r>
          </a:p>
        </p:txBody>
      </p:sp>
      <p:sp>
        <p:nvSpPr>
          <p:cNvPr id="52" name="text-34">
            <a:extLst xmlns:a="http://schemas.openxmlformats.org/drawingml/2006/main">
              <a:ext uri="{FF2B5EF4-FFF2-40B4-BE49-F238E27FC236}">
                <a16:creationId xmlns:a16="http://schemas.microsoft.com/office/drawing/2014/main" id="{3C2CA286-5BB1-4DBB-A869-2ACE6B4A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99592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LESS MANUAL QUERY HANDLING</a:t>
            </a:r>
          </a:p>
        </p:txBody>
      </p:sp>
      <p:sp>
        <p:nvSpPr>
          <p:cNvPr id="53" name="text-35">
            <a:extLst xmlns:a="http://schemas.openxmlformats.org/drawingml/2006/main">
              <a:ext uri="{FF2B5EF4-FFF2-40B4-BE49-F238E27FC236}">
                <a16:creationId xmlns:a16="http://schemas.microsoft.com/office/drawing/2014/main" id="{79539544-5D3A-416E-9A79-E0A332AA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5678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40%</a:t>
            </a:r>
          </a:p>
        </p:txBody>
      </p:sp>
      <p:sp>
        <p:nvSpPr>
          <p:cNvPr id="54" name="text-36">
            <a:extLst xmlns:a="http://schemas.openxmlformats.org/drawingml/2006/main">
              <a:ext uri="{FF2B5EF4-FFF2-40B4-BE49-F238E27FC236}">
                <a16:creationId xmlns:a16="http://schemas.microsoft.com/office/drawing/2014/main" id="{C2161211-5369-4ED1-AFCD-26AF70C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81507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E6A82"/>
                </a:solidFill>
                <a:latin typeface="Manrope"/>
                <a:ea typeface="Manrope"/>
                <a:cs typeface="Manrope"/>
              </a:rPr>
              <a:t>SOFTWARE DELIVERY</a:t>
            </a:r>
          </a:p>
        </p:txBody>
      </p:sp>
      <p:sp>
        <p:nvSpPr>
          <p:cNvPr id="55" name="text-37">
            <a:extLst xmlns:a="http://schemas.openxmlformats.org/drawingml/2006/main">
              <a:ext uri="{FF2B5EF4-FFF2-40B4-BE49-F238E27FC236}">
                <a16:creationId xmlns:a16="http://schemas.microsoft.com/office/drawing/2014/main" id="{822D8C25-1793-49A7-8681-4162047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043678"/>
            <a:ext cx="30099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8CA4"/>
                </a:solidFill>
                <a:latin typeface="Manrope"/>
                <a:ea typeface="Manrope"/>
                <a:cs typeface="Manrope"/>
              </a:rPr>
              <a:t>CYCLE IMPROVEMENT</a:t>
            </a:r>
          </a:p>
        </p:txBody>
      </p:sp>
      <p:sp>
        <p:nvSpPr>
          <p:cNvPr id="56" name="text-38">
            <a:extLst xmlns:a="http://schemas.openxmlformats.org/drawingml/2006/main">
              <a:ext uri="{FF2B5EF4-FFF2-40B4-BE49-F238E27FC236}">
                <a16:creationId xmlns:a16="http://schemas.microsoft.com/office/drawing/2014/main" id="{6357B058-9107-4CCE-95A1-9A024C05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53303"/>
            <a:ext cx="4762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QUALITY + CONTROL</a:t>
            </a:r>
          </a:p>
        </p:txBody>
      </p:sp>
      <p:sp>
        <p:nvSpPr>
          <p:cNvPr id="57" name="text-39">
            <a:extLst xmlns:a="http://schemas.openxmlformats.org/drawingml/2006/main">
              <a:ext uri="{FF2B5EF4-FFF2-40B4-BE49-F238E27FC236}">
                <a16:creationId xmlns:a16="http://schemas.microsoft.com/office/drawing/2014/main" id="{A3F74A56-4C97-4C65-9BFD-13140EF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77331"/>
            <a:ext cx="4762500" cy="16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defRPr>
            </a:pPr>
            <a:r>
              <a:rPr sz="863" b="0" i="0">
                <a:solidFill>
                  <a:srgbClr val="4F5D76"/>
                </a:solidFill>
                <a:latin typeface="Manrope"/>
                <a:ea typeface="Manrope"/>
                <a:cs typeface="Manrope"/>
              </a:rPr>
              <a:t>Policy-grounded answers with human handoff and release review</a:t>
            </a:r>
          </a:p>
        </p:txBody>
      </p:sp>
      <p:sp>
        <p:nvSpPr>
          <p:cNvPr id="58" name="text-40">
            <a:extLst xmlns:a="http://schemas.openxmlformats.org/drawingml/2006/main">
              <a:ext uri="{FF2B5EF4-FFF2-40B4-BE49-F238E27FC236}">
                <a16:creationId xmlns:a16="http://schemas.microsoft.com/office/drawing/2014/main" id="{15FC58C9-5277-4642-8334-394C00D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52641"/>
            <a:ext cx="14478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4F5C75"/>
                </a:solidFill>
                <a:latin typeface="Manrope"/>
                <a:ea typeface="Manrope"/>
                <a:cs typeface="Manrope"/>
              </a:rPr>
              <a:t>ONE DELIVERY SYSTEM ACROSS FOUR OPERATING SURFACES</a:t>
            </a:r>
          </a:p>
        </p:txBody>
      </p:sp>
      <p:sp>
        <p:nvSpPr>
          <p:cNvPr id="59" name="rectangle-18">
            <a:extLst xmlns:a="http://schemas.openxmlformats.org/drawingml/2006/main">
              <a:ext uri="{FF2B5EF4-FFF2-40B4-BE49-F238E27FC236}">
                <a16:creationId xmlns:a16="http://schemas.microsoft.com/office/drawing/2014/main" id="{2659273C-734D-4781-B6EF-A6A2A4C4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139065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rectangle-19">
            <a:extLst xmlns:a="http://schemas.openxmlformats.org/drawingml/2006/main">
              <a:ext uri="{FF2B5EF4-FFF2-40B4-BE49-F238E27FC236}">
                <a16:creationId xmlns:a16="http://schemas.microsoft.com/office/drawing/2014/main" id="{041E78E5-5DB6-4C19-A63F-C83EA9E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C2CDA"/>
              </a:gs>
              <a:gs pos="100000">
                <a:srgbClr val="14AFC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1" name="line-20">
            <a:extLst xmlns:a="http://schemas.openxmlformats.org/drawingml/2006/main">
              <a:ext uri="{FF2B5EF4-FFF2-40B4-BE49-F238E27FC236}">
                <a16:creationId xmlns:a16="http://schemas.microsoft.com/office/drawing/2014/main" id="{0D096A3E-9FB7-444B-890D-26733C53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2" name="line-21">
            <a:extLst xmlns:a="http://schemas.openxmlformats.org/drawingml/2006/main">
              <a:ext uri="{FF2B5EF4-FFF2-40B4-BE49-F238E27FC236}">
                <a16:creationId xmlns:a16="http://schemas.microsoft.com/office/drawing/2014/main" id="{A891450E-8D19-40D3-AD0A-B2F095D9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3" name="line-22">
            <a:extLst xmlns:a="http://schemas.openxmlformats.org/drawingml/2006/main">
              <a:ext uri="{FF2B5EF4-FFF2-40B4-BE49-F238E27FC236}">
                <a16:creationId xmlns:a16="http://schemas.microsoft.com/office/drawing/2014/main" id="{1F1BADD1-118F-4D67-A84F-A636B01B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18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64" name="text-41">
            <a:extLst xmlns:a="http://schemas.openxmlformats.org/drawingml/2006/main">
              <a:ext uri="{FF2B5EF4-FFF2-40B4-BE49-F238E27FC236}">
                <a16:creationId xmlns:a16="http://schemas.microsoft.com/office/drawing/2014/main" id="{7896B578-BFC2-4972-A211-9B6AC5B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43191"/>
            <a:ext cx="140398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POLICY SERVICING</a:t>
            </a:r>
          </a:p>
        </p:txBody>
      </p:sp>
      <p:sp>
        <p:nvSpPr>
          <p:cNvPr id="65" name="text-42">
            <a:extLst xmlns:a="http://schemas.openxmlformats.org/drawingml/2006/main">
              <a:ext uri="{FF2B5EF4-FFF2-40B4-BE49-F238E27FC236}">
                <a16:creationId xmlns:a16="http://schemas.microsoft.com/office/drawing/2014/main" id="{2309E498-2525-4E7B-ADB8-816DC6DA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91603"/>
            <a:ext cx="140398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defRPr>
            </a:pPr>
            <a:r>
              <a: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rPr>
              <a:t>Rules and application change</a:t>
            </a:r>
          </a:p>
        </p:txBody>
      </p:sp>
      <p:sp>
        <p:nvSpPr>
          <p:cNvPr id="66" name="text-43">
            <a:extLst xmlns:a="http://schemas.openxmlformats.org/drawingml/2006/main">
              <a:ext uri="{FF2B5EF4-FFF2-40B4-BE49-F238E27FC236}">
                <a16:creationId xmlns:a16="http://schemas.microsoft.com/office/drawing/2014/main" id="{7C7C3A0F-9F27-4A8F-B396-BC966C2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7243191"/>
            <a:ext cx="1056322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CUSTOMER QUERIES</a:t>
            </a:r>
          </a:p>
        </p:txBody>
      </p:sp>
      <p:sp>
        <p:nvSpPr>
          <p:cNvPr id="67" name="text-44">
            <a:extLst xmlns:a="http://schemas.openxmlformats.org/drawingml/2006/main">
              <a:ext uri="{FF2B5EF4-FFF2-40B4-BE49-F238E27FC236}">
                <a16:creationId xmlns:a16="http://schemas.microsoft.com/office/drawing/2014/main" id="{9406B5B6-0A02-439B-8A79-892497D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7491603"/>
            <a:ext cx="105632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defRPr>
            </a:pPr>
            <a:r>
              <a: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rPr>
              <a:t>Knowledge-guided resolution</a:t>
            </a:r>
          </a:p>
        </p:txBody>
      </p:sp>
      <p:sp>
        <p:nvSpPr>
          <p:cNvPr id="68" name="text-45">
            <a:extLst xmlns:a="http://schemas.openxmlformats.org/drawingml/2006/main">
              <a:ext uri="{FF2B5EF4-FFF2-40B4-BE49-F238E27FC236}">
                <a16:creationId xmlns:a16="http://schemas.microsoft.com/office/drawing/2014/main" id="{820E04D6-1742-4DBA-A3E2-5B05764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43191"/>
            <a:ext cx="7086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ADVISOR REGISTRATION</a:t>
            </a:r>
          </a:p>
        </p:txBody>
      </p:sp>
      <p:sp>
        <p:nvSpPr>
          <p:cNvPr id="69" name="text-46">
            <a:extLst xmlns:a="http://schemas.openxmlformats.org/drawingml/2006/main">
              <a:ext uri="{FF2B5EF4-FFF2-40B4-BE49-F238E27FC236}">
                <a16:creationId xmlns:a16="http://schemas.microsoft.com/office/drawing/2014/main" id="{B3B79040-E3F5-4E3C-B605-31CA287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91603"/>
            <a:ext cx="70866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defRPr>
            </a:pPr>
            <a:r>
              <a: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rPr>
              <a:t>Automated administration</a:t>
            </a:r>
          </a:p>
        </p:txBody>
      </p:sp>
      <p:sp>
        <p:nvSpPr>
          <p:cNvPr id="70" name="text-47">
            <a:extLst xmlns:a="http://schemas.openxmlformats.org/drawingml/2006/main">
              <a:ext uri="{FF2B5EF4-FFF2-40B4-BE49-F238E27FC236}">
                <a16:creationId xmlns:a16="http://schemas.microsoft.com/office/drawing/2014/main" id="{ACC232FC-8A73-4B8E-9D30-158F1DAE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243191"/>
            <a:ext cx="360997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07125E"/>
                </a:solidFill>
                <a:latin typeface="Manrope"/>
                <a:ea typeface="Manrope"/>
                <a:cs typeface="Manrope"/>
              </a:rPr>
              <a:t>DELIVERY ENGINEERING</a:t>
            </a:r>
          </a:p>
        </p:txBody>
      </p:sp>
      <p:sp>
        <p:nvSpPr>
          <p:cNvPr id="71" name="text-48">
            <a:extLst xmlns:a="http://schemas.openxmlformats.org/drawingml/2006/main">
              <a:ext uri="{FF2B5EF4-FFF2-40B4-BE49-F238E27FC236}">
                <a16:creationId xmlns:a16="http://schemas.microsoft.com/office/drawing/2014/main" id="{DA7F3485-23AE-47C5-970A-67C8536B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491603"/>
            <a:ext cx="360997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defRPr>
            </a:pPr>
            <a:r>
              <a:rPr sz="900" b="0" i="0">
                <a:solidFill>
                  <a:srgbClr val="65718A"/>
                </a:solidFill>
                <a:latin typeface="Manrope"/>
                <a:ea typeface="Manrope"/>
                <a:cs typeface="Manrope"/>
              </a:rPr>
              <a:t>AI-assisted build and debugging</a:t>
            </a:r>
          </a:p>
        </p:txBody>
      </p:sp>
      <p:sp>
        <p:nvSpPr>
          <p:cNvPr id="72" name="text-49">
            <a:extLst xmlns:a="http://schemas.openxmlformats.org/drawingml/2006/main">
              <a:ext uri="{FF2B5EF4-FFF2-40B4-BE49-F238E27FC236}">
                <a16:creationId xmlns:a16="http://schemas.microsoft.com/office/drawing/2014/main" id="{D54ACB53-991D-4D1E-B659-C52A031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42148"/>
            <a:ext cx="14478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6224B"/>
                </a:solidFill>
                <a:latin typeface="Manrope"/>
                <a:ea typeface="Manrope"/>
                <a:cs typeface="Manrope"/>
              </a:rPr>
              <a:t>The insurer improved delivery and customer service together by making policy knowledge reusable</a:t>
            </a:r>
          </a:p>
        </p:txBody>
      </p:sp>
      <p:sp>
        <p:nvSpPr>
          <p:cNvPr id="73" name="text-50">
            <a:extLst xmlns:a="http://schemas.openxmlformats.org/drawingml/2006/main">
              <a:ext uri="{FF2B5EF4-FFF2-40B4-BE49-F238E27FC236}">
                <a16:creationId xmlns:a16="http://schemas.microsoft.com/office/drawing/2014/main" id="{6A0D7D4C-AEC7-44C8-9623-37BC73F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9615"/>
            <a:ext cx="144780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7E889B"/>
                </a:solidFill>
                <a:latin typeface="Manrope"/>
                <a:ea typeface="Manrope"/>
                <a:cs typeface="Manrope"/>
              </a:rPr>
              <a:t>© Hexaware Technologies. Confidential briefing.</a:t>
            </a:r>
          </a:p>
        </p:txBody>
      </p:sp>
    </p:spTree>
    <p:extLst>
      <p:ext uri="{BB962C8B-B14F-4D97-AF65-F5344CB8AC3E}">
        <p14:creationId xmlns:p14="http://schemas.microsoft.com/office/powerpoint/2010/main" val="2142825207"/>
      </p:ext>
    </p:extLst>
  </p:cSld>
</p:sld>
</file>

<file path=ppt/theme/theme1.xml><?xml version="1.0" encoding="utf-8"?>
<a:theme xmlns:a="http://schemas.openxmlformats.org/drawingml/2006/main" name="ChatGPT">
  <a:themeElements>
    <a:clrScheme name="Hexaware case studies">
      <a:dk1>
        <a:srgbClr val="07125E"/>
      </a:dk1>
      <a:lt1>
        <a:srgbClr val="FFFFFF"/>
      </a:lt1>
      <a:dk2>
        <a:srgbClr val="152258"/>
      </a:dk2>
      <a:lt2>
        <a:srgbClr val="F1F5FA"/>
      </a:lt2>
      <a:accent1>
        <a:srgbClr val="3C2CDA"/>
      </a:accent1>
      <a:accent2>
        <a:srgbClr val="14CBDE"/>
      </a:accent2>
      <a:accent3>
        <a:srgbClr val="1D86FF"/>
      </a:accent3>
      <a:accent4>
        <a:srgbClr val="EA9D00"/>
      </a:accent4>
      <a:accent5>
        <a:srgbClr val="078CA4"/>
      </a:accent5>
      <a:accent6>
        <a:srgbClr val="8088A7"/>
      </a:accent6>
      <a:hlink>
        <a:srgbClr val="3C2CDA"/>
      </a:hlink>
      <a:folHlink>
        <a:srgbClr val="07125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Hexaware case stud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2026-09-23T20:28:44.8590000Z</dcterms:created>
  <dcterms:modified xsi:type="dcterms:W3CDTF">2026-09-23T20:28:44.8590000Z</dcterms:modified>
</coreProperties>
</file>